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5999738" cy="43200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4E00"/>
    <a:srgbClr val="09FFFF"/>
    <a:srgbClr val="FB0D0D"/>
    <a:srgbClr val="FF09DC"/>
    <a:srgbClr val="09FF26"/>
    <a:srgbClr val="0086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471" autoAdjust="0"/>
    <p:restoredTop sz="94660"/>
  </p:normalViewPr>
  <p:slideViewPr>
    <p:cSldViewPr snapToGrid="0">
      <p:cViewPr>
        <p:scale>
          <a:sx n="25" d="100"/>
          <a:sy n="25" d="100"/>
        </p:scale>
        <p:origin x="1554" y="-15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81" y="7070108"/>
            <a:ext cx="30599777" cy="15040222"/>
          </a:xfrm>
        </p:spPr>
        <p:txBody>
          <a:bodyPr anchor="b"/>
          <a:lstStyle>
            <a:lvl1pPr algn="ctr">
              <a:defRPr sz="2362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9967" y="22690338"/>
            <a:ext cx="26999804" cy="10430151"/>
          </a:xfrm>
        </p:spPr>
        <p:txBody>
          <a:bodyPr/>
          <a:lstStyle>
            <a:lvl1pPr marL="0" indent="0" algn="ctr">
              <a:buNone/>
              <a:defRPr sz="9449"/>
            </a:lvl1pPr>
            <a:lvl2pPr marL="1799996" indent="0" algn="ctr">
              <a:buNone/>
              <a:defRPr sz="7874"/>
            </a:lvl2pPr>
            <a:lvl3pPr marL="3599993" indent="0" algn="ctr">
              <a:buNone/>
              <a:defRPr sz="7087"/>
            </a:lvl3pPr>
            <a:lvl4pPr marL="5399989" indent="0" algn="ctr">
              <a:buNone/>
              <a:defRPr sz="6299"/>
            </a:lvl4pPr>
            <a:lvl5pPr marL="7199986" indent="0" algn="ctr">
              <a:buNone/>
              <a:defRPr sz="6299"/>
            </a:lvl5pPr>
            <a:lvl6pPr marL="8999982" indent="0" algn="ctr">
              <a:buNone/>
              <a:defRPr sz="6299"/>
            </a:lvl6pPr>
            <a:lvl7pPr marL="10799978" indent="0" algn="ctr">
              <a:buNone/>
              <a:defRPr sz="6299"/>
            </a:lvl7pPr>
            <a:lvl8pPr marL="12599975" indent="0" algn="ctr">
              <a:buNone/>
              <a:defRPr sz="6299"/>
            </a:lvl8pPr>
            <a:lvl9pPr marL="14399971" indent="0" algn="ctr">
              <a:buNone/>
              <a:defRPr sz="629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8DBAC-090F-45B3-A413-FE62EA8F1959}" type="datetimeFigureOut">
              <a:rPr lang="en-GB" smtClean="0"/>
              <a:t>02/06/2022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984C7-4E66-435C-BFF1-7944E3DE87B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5842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8DBAC-090F-45B3-A413-FE62EA8F1959}" type="datetimeFigureOut">
              <a:rPr lang="en-GB" smtClean="0"/>
              <a:t>02/06/2022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984C7-4E66-435C-BFF1-7944E3DE87B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0717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234" y="10770172"/>
            <a:ext cx="31049774" cy="17970262"/>
          </a:xfrm>
        </p:spPr>
        <p:txBody>
          <a:bodyPr anchor="b"/>
          <a:lstStyle>
            <a:lvl1pPr>
              <a:defRPr sz="2362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234" y="28910440"/>
            <a:ext cx="31049774" cy="9450136"/>
          </a:xfrm>
        </p:spPr>
        <p:txBody>
          <a:bodyPr/>
          <a:lstStyle>
            <a:lvl1pPr marL="0" indent="0">
              <a:buNone/>
              <a:defRPr sz="9449">
                <a:solidFill>
                  <a:schemeClr val="tx1"/>
                </a:solidFill>
              </a:defRPr>
            </a:lvl1pPr>
            <a:lvl2pPr marL="1799996" indent="0">
              <a:buNone/>
              <a:defRPr sz="7874">
                <a:solidFill>
                  <a:schemeClr val="tx1">
                    <a:tint val="75000"/>
                  </a:schemeClr>
                </a:solidFill>
              </a:defRPr>
            </a:lvl2pPr>
            <a:lvl3pPr marL="3599993" indent="0">
              <a:buNone/>
              <a:defRPr sz="7087">
                <a:solidFill>
                  <a:schemeClr val="tx1">
                    <a:tint val="75000"/>
                  </a:schemeClr>
                </a:solidFill>
              </a:defRPr>
            </a:lvl3pPr>
            <a:lvl4pPr marL="5399989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4pPr>
            <a:lvl5pPr marL="7199986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5pPr>
            <a:lvl6pPr marL="8999982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6pPr>
            <a:lvl7pPr marL="10799978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7pPr>
            <a:lvl8pPr marL="12599975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8pPr>
            <a:lvl9pPr marL="14399971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8DBAC-090F-45B3-A413-FE62EA8F1959}" type="datetimeFigureOut">
              <a:rPr lang="en-GB" smtClean="0"/>
              <a:t>02/06/2022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984C7-4E66-435C-BFF1-7944E3DE87B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5250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4982" y="11500170"/>
            <a:ext cx="15299889" cy="27410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4867" y="11500170"/>
            <a:ext cx="15299889" cy="27410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8DBAC-090F-45B3-A413-FE62EA8F1959}" type="datetimeFigureOut">
              <a:rPr lang="en-GB" smtClean="0"/>
              <a:t>02/06/2022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984C7-4E66-435C-BFF1-7944E3DE87B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6218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2300044"/>
            <a:ext cx="31049774" cy="8350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675" y="10590160"/>
            <a:ext cx="15229574" cy="5190073"/>
          </a:xfrm>
        </p:spPr>
        <p:txBody>
          <a:bodyPr anchor="b"/>
          <a:lstStyle>
            <a:lvl1pPr marL="0" indent="0">
              <a:buNone/>
              <a:defRPr sz="9449" b="1"/>
            </a:lvl1pPr>
            <a:lvl2pPr marL="1799996" indent="0">
              <a:buNone/>
              <a:defRPr sz="7874" b="1"/>
            </a:lvl2pPr>
            <a:lvl3pPr marL="3599993" indent="0">
              <a:buNone/>
              <a:defRPr sz="7087" b="1"/>
            </a:lvl3pPr>
            <a:lvl4pPr marL="5399989" indent="0">
              <a:buNone/>
              <a:defRPr sz="6299" b="1"/>
            </a:lvl4pPr>
            <a:lvl5pPr marL="7199986" indent="0">
              <a:buNone/>
              <a:defRPr sz="6299" b="1"/>
            </a:lvl5pPr>
            <a:lvl6pPr marL="8999982" indent="0">
              <a:buNone/>
              <a:defRPr sz="6299" b="1"/>
            </a:lvl6pPr>
            <a:lvl7pPr marL="10799978" indent="0">
              <a:buNone/>
              <a:defRPr sz="6299" b="1"/>
            </a:lvl7pPr>
            <a:lvl8pPr marL="12599975" indent="0">
              <a:buNone/>
              <a:defRPr sz="6299" b="1"/>
            </a:lvl8pPr>
            <a:lvl9pPr marL="14399971" indent="0">
              <a:buNone/>
              <a:defRPr sz="62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79675" y="15780233"/>
            <a:ext cx="15229574" cy="232103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4869" y="10590160"/>
            <a:ext cx="15304578" cy="5190073"/>
          </a:xfrm>
        </p:spPr>
        <p:txBody>
          <a:bodyPr anchor="b"/>
          <a:lstStyle>
            <a:lvl1pPr marL="0" indent="0">
              <a:buNone/>
              <a:defRPr sz="9449" b="1"/>
            </a:lvl1pPr>
            <a:lvl2pPr marL="1799996" indent="0">
              <a:buNone/>
              <a:defRPr sz="7874" b="1"/>
            </a:lvl2pPr>
            <a:lvl3pPr marL="3599993" indent="0">
              <a:buNone/>
              <a:defRPr sz="7087" b="1"/>
            </a:lvl3pPr>
            <a:lvl4pPr marL="5399989" indent="0">
              <a:buNone/>
              <a:defRPr sz="6299" b="1"/>
            </a:lvl4pPr>
            <a:lvl5pPr marL="7199986" indent="0">
              <a:buNone/>
              <a:defRPr sz="6299" b="1"/>
            </a:lvl5pPr>
            <a:lvl6pPr marL="8999982" indent="0">
              <a:buNone/>
              <a:defRPr sz="6299" b="1"/>
            </a:lvl6pPr>
            <a:lvl7pPr marL="10799978" indent="0">
              <a:buNone/>
              <a:defRPr sz="6299" b="1"/>
            </a:lvl7pPr>
            <a:lvl8pPr marL="12599975" indent="0">
              <a:buNone/>
              <a:defRPr sz="6299" b="1"/>
            </a:lvl8pPr>
            <a:lvl9pPr marL="14399971" indent="0">
              <a:buNone/>
              <a:defRPr sz="62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4869" y="15780233"/>
            <a:ext cx="15304578" cy="232103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8DBAC-090F-45B3-A413-FE62EA8F1959}" type="datetimeFigureOut">
              <a:rPr lang="en-GB" smtClean="0"/>
              <a:t>02/06/2022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984C7-4E66-435C-BFF1-7944E3DE87B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4436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8DBAC-090F-45B3-A413-FE62EA8F1959}" type="datetimeFigureOut">
              <a:rPr lang="en-GB" smtClean="0"/>
              <a:t>02/06/2022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984C7-4E66-435C-BFF1-7944E3DE87B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300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8DBAC-090F-45B3-A413-FE62EA8F1959}" type="datetimeFigureOut">
              <a:rPr lang="en-GB" smtClean="0"/>
              <a:t>02/06/2022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984C7-4E66-435C-BFF1-7944E3DE87B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3358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2880042"/>
            <a:ext cx="11610853" cy="10080149"/>
          </a:xfrm>
        </p:spPr>
        <p:txBody>
          <a:bodyPr anchor="b"/>
          <a:lstStyle>
            <a:lvl1pPr>
              <a:defRPr sz="125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4578" y="6220102"/>
            <a:ext cx="18224867" cy="30700453"/>
          </a:xfrm>
        </p:spPr>
        <p:txBody>
          <a:bodyPr/>
          <a:lstStyle>
            <a:lvl1pPr>
              <a:defRPr sz="12598"/>
            </a:lvl1pPr>
            <a:lvl2pPr>
              <a:defRPr sz="11024"/>
            </a:lvl2pPr>
            <a:lvl3pPr>
              <a:defRPr sz="9449"/>
            </a:lvl3pPr>
            <a:lvl4pPr>
              <a:defRPr sz="7874"/>
            </a:lvl4pPr>
            <a:lvl5pPr>
              <a:defRPr sz="7874"/>
            </a:lvl5pPr>
            <a:lvl6pPr>
              <a:defRPr sz="7874"/>
            </a:lvl6pPr>
            <a:lvl7pPr>
              <a:defRPr sz="7874"/>
            </a:lvl7pPr>
            <a:lvl8pPr>
              <a:defRPr sz="7874"/>
            </a:lvl8pPr>
            <a:lvl9pPr>
              <a:defRPr sz="787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12960191"/>
            <a:ext cx="11610853" cy="24010358"/>
          </a:xfrm>
        </p:spPr>
        <p:txBody>
          <a:bodyPr/>
          <a:lstStyle>
            <a:lvl1pPr marL="0" indent="0">
              <a:buNone/>
              <a:defRPr sz="6299"/>
            </a:lvl1pPr>
            <a:lvl2pPr marL="1799996" indent="0">
              <a:buNone/>
              <a:defRPr sz="5512"/>
            </a:lvl2pPr>
            <a:lvl3pPr marL="3599993" indent="0">
              <a:buNone/>
              <a:defRPr sz="4724"/>
            </a:lvl3pPr>
            <a:lvl4pPr marL="5399989" indent="0">
              <a:buNone/>
              <a:defRPr sz="3937"/>
            </a:lvl4pPr>
            <a:lvl5pPr marL="7199986" indent="0">
              <a:buNone/>
              <a:defRPr sz="3937"/>
            </a:lvl5pPr>
            <a:lvl6pPr marL="8999982" indent="0">
              <a:buNone/>
              <a:defRPr sz="3937"/>
            </a:lvl6pPr>
            <a:lvl7pPr marL="10799978" indent="0">
              <a:buNone/>
              <a:defRPr sz="3937"/>
            </a:lvl7pPr>
            <a:lvl8pPr marL="12599975" indent="0">
              <a:buNone/>
              <a:defRPr sz="3937"/>
            </a:lvl8pPr>
            <a:lvl9pPr marL="14399971" indent="0">
              <a:buNone/>
              <a:defRPr sz="393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8DBAC-090F-45B3-A413-FE62EA8F1959}" type="datetimeFigureOut">
              <a:rPr lang="en-GB" smtClean="0"/>
              <a:t>02/06/2022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984C7-4E66-435C-BFF1-7944E3DE87B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9231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2880042"/>
            <a:ext cx="11610853" cy="10080149"/>
          </a:xfrm>
        </p:spPr>
        <p:txBody>
          <a:bodyPr anchor="b"/>
          <a:lstStyle>
            <a:lvl1pPr>
              <a:defRPr sz="125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4578" y="6220102"/>
            <a:ext cx="18224867" cy="30700453"/>
          </a:xfrm>
        </p:spPr>
        <p:txBody>
          <a:bodyPr anchor="t"/>
          <a:lstStyle>
            <a:lvl1pPr marL="0" indent="0">
              <a:buNone/>
              <a:defRPr sz="12598"/>
            </a:lvl1pPr>
            <a:lvl2pPr marL="1799996" indent="0">
              <a:buNone/>
              <a:defRPr sz="11024"/>
            </a:lvl2pPr>
            <a:lvl3pPr marL="3599993" indent="0">
              <a:buNone/>
              <a:defRPr sz="9449"/>
            </a:lvl3pPr>
            <a:lvl4pPr marL="5399989" indent="0">
              <a:buNone/>
              <a:defRPr sz="7874"/>
            </a:lvl4pPr>
            <a:lvl5pPr marL="7199986" indent="0">
              <a:buNone/>
              <a:defRPr sz="7874"/>
            </a:lvl5pPr>
            <a:lvl6pPr marL="8999982" indent="0">
              <a:buNone/>
              <a:defRPr sz="7874"/>
            </a:lvl6pPr>
            <a:lvl7pPr marL="10799978" indent="0">
              <a:buNone/>
              <a:defRPr sz="7874"/>
            </a:lvl7pPr>
            <a:lvl8pPr marL="12599975" indent="0">
              <a:buNone/>
              <a:defRPr sz="7874"/>
            </a:lvl8pPr>
            <a:lvl9pPr marL="14399971" indent="0">
              <a:buNone/>
              <a:defRPr sz="787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12960191"/>
            <a:ext cx="11610853" cy="24010358"/>
          </a:xfrm>
        </p:spPr>
        <p:txBody>
          <a:bodyPr/>
          <a:lstStyle>
            <a:lvl1pPr marL="0" indent="0">
              <a:buNone/>
              <a:defRPr sz="6299"/>
            </a:lvl1pPr>
            <a:lvl2pPr marL="1799996" indent="0">
              <a:buNone/>
              <a:defRPr sz="5512"/>
            </a:lvl2pPr>
            <a:lvl3pPr marL="3599993" indent="0">
              <a:buNone/>
              <a:defRPr sz="4724"/>
            </a:lvl3pPr>
            <a:lvl4pPr marL="5399989" indent="0">
              <a:buNone/>
              <a:defRPr sz="3937"/>
            </a:lvl4pPr>
            <a:lvl5pPr marL="7199986" indent="0">
              <a:buNone/>
              <a:defRPr sz="3937"/>
            </a:lvl5pPr>
            <a:lvl6pPr marL="8999982" indent="0">
              <a:buNone/>
              <a:defRPr sz="3937"/>
            </a:lvl6pPr>
            <a:lvl7pPr marL="10799978" indent="0">
              <a:buNone/>
              <a:defRPr sz="3937"/>
            </a:lvl7pPr>
            <a:lvl8pPr marL="12599975" indent="0">
              <a:buNone/>
              <a:defRPr sz="3937"/>
            </a:lvl8pPr>
            <a:lvl9pPr marL="14399971" indent="0">
              <a:buNone/>
              <a:defRPr sz="393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8DBAC-090F-45B3-A413-FE62EA8F1959}" type="datetimeFigureOut">
              <a:rPr lang="en-GB" smtClean="0"/>
              <a:t>02/06/2022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984C7-4E66-435C-BFF1-7944E3DE87B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8136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8DBAC-090F-45B3-A413-FE62EA8F1959}" type="datetimeFigureOut">
              <a:rPr lang="en-GB" smtClean="0"/>
              <a:t>02/06/2022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984C7-4E66-435C-BFF1-7944E3DE87B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5112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2314" y="2300034"/>
            <a:ext cx="7762444" cy="366105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4984" y="2300034"/>
            <a:ext cx="22837334" cy="366105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8DBAC-090F-45B3-A413-FE62EA8F1959}" type="datetimeFigureOut">
              <a:rPr lang="en-GB" smtClean="0"/>
              <a:t>02/06/2022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5984C7-4E66-435C-BFF1-7944E3DE87B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1506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4982" y="2300044"/>
            <a:ext cx="31049774" cy="8350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4982" y="11500170"/>
            <a:ext cx="31049774" cy="27410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4982" y="40040601"/>
            <a:ext cx="8099941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8DBAC-090F-45B3-A413-FE62EA8F1959}" type="datetimeFigureOut">
              <a:rPr lang="en-GB" smtClean="0"/>
              <a:t>02/06/2022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4913" y="40040601"/>
            <a:ext cx="12149912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4815" y="40040601"/>
            <a:ext cx="8099941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5984C7-4E66-435C-BFF1-7944E3DE87B4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4985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599993" rtl="0" eaLnBrk="1" latinLnBrk="0" hangingPunct="1">
        <a:lnSpc>
          <a:spcPct val="90000"/>
        </a:lnSpc>
        <a:spcBef>
          <a:spcPct val="0"/>
        </a:spcBef>
        <a:buNone/>
        <a:defRPr sz="1732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99998" indent="-899998" algn="l" defTabSz="3599993" rtl="0" eaLnBrk="1" latinLnBrk="0" hangingPunct="1">
        <a:lnSpc>
          <a:spcPct val="90000"/>
        </a:lnSpc>
        <a:spcBef>
          <a:spcPts val="3937"/>
        </a:spcBef>
        <a:buFont typeface="Arial" panose="020B0604020202020204" pitchFamily="34" charset="0"/>
        <a:buChar char="•"/>
        <a:defRPr sz="11024" kern="1200">
          <a:solidFill>
            <a:schemeClr val="tx1"/>
          </a:solidFill>
          <a:latin typeface="+mn-lt"/>
          <a:ea typeface="+mn-ea"/>
          <a:cs typeface="+mn-cs"/>
        </a:defRPr>
      </a:lvl1pPr>
      <a:lvl2pPr marL="2699995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9449" kern="1200">
          <a:solidFill>
            <a:schemeClr val="tx1"/>
          </a:solidFill>
          <a:latin typeface="+mn-lt"/>
          <a:ea typeface="+mn-ea"/>
          <a:cs typeface="+mn-cs"/>
        </a:defRPr>
      </a:lvl2pPr>
      <a:lvl3pPr marL="4499991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874" kern="1200">
          <a:solidFill>
            <a:schemeClr val="tx1"/>
          </a:solidFill>
          <a:latin typeface="+mn-lt"/>
          <a:ea typeface="+mn-ea"/>
          <a:cs typeface="+mn-cs"/>
        </a:defRPr>
      </a:lvl3pPr>
      <a:lvl4pPr marL="6299987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8099984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9899980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1699977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3499973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5299969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1pPr>
      <a:lvl2pPr marL="1799996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2pPr>
      <a:lvl3pPr marL="3599993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3pPr>
      <a:lvl4pPr marL="5399989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7199986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8999982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0799978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2599975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4399971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hyperlink" Target="https://doi.org/10.1073/pnas.1114783109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jpe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/>
          <p:cNvSpPr/>
          <p:nvPr/>
        </p:nvSpPr>
        <p:spPr>
          <a:xfrm>
            <a:off x="18849366" y="7080387"/>
            <a:ext cx="17150372" cy="80102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ángulo 6"/>
          <p:cNvSpPr/>
          <p:nvPr/>
        </p:nvSpPr>
        <p:spPr>
          <a:xfrm>
            <a:off x="-3" y="6399945"/>
            <a:ext cx="17637227" cy="226373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A30C98-9CC5-648B-D8C4-F565F2962839}"/>
              </a:ext>
            </a:extLst>
          </p:cNvPr>
          <p:cNvSpPr/>
          <p:nvPr/>
        </p:nvSpPr>
        <p:spPr>
          <a:xfrm>
            <a:off x="-2" y="-2584"/>
            <a:ext cx="29221976" cy="4597855"/>
          </a:xfrm>
          <a:prstGeom prst="rect">
            <a:avLst/>
          </a:prstGeom>
          <a:solidFill>
            <a:srgbClr val="0086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GB" sz="72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D047F1-CA6C-C3D7-8021-3746CA2B441C}"/>
              </a:ext>
            </a:extLst>
          </p:cNvPr>
          <p:cNvSpPr txBox="1"/>
          <p:nvPr/>
        </p:nvSpPr>
        <p:spPr>
          <a:xfrm>
            <a:off x="696612" y="37379250"/>
            <a:ext cx="8969891" cy="3303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References</a:t>
            </a:r>
            <a:endParaRPr lang="en-US" sz="1600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>
              <a:spcBef>
                <a:spcPts val="1200"/>
              </a:spcBef>
            </a:pPr>
            <a:r>
              <a:rPr lang="en-GB" sz="1600" dirty="0" smtClean="0"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[1] </a:t>
            </a:r>
            <a:r>
              <a:rPr lang="en-GB" sz="1600" dirty="0" err="1" smtClean="0"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Lewkowicz</a:t>
            </a:r>
            <a:r>
              <a:rPr lang="en-GB" sz="1600" dirty="0"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, D. J., &amp; Hansen-</a:t>
            </a:r>
            <a:r>
              <a:rPr lang="en-GB" sz="1600" dirty="0" err="1"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Tift</a:t>
            </a:r>
            <a:r>
              <a:rPr lang="en-GB" sz="1600" dirty="0"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, A. M. (2012). Infants deploy selective attention to the mouth of a talking face when learning speech. </a:t>
            </a:r>
            <a:r>
              <a:rPr lang="en-GB" sz="1600" i="1" dirty="0"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Proceedings of the National Academy of Sciences</a:t>
            </a:r>
            <a:r>
              <a:rPr lang="en-GB" sz="1600" dirty="0"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, </a:t>
            </a:r>
            <a:r>
              <a:rPr lang="en-GB" sz="1600" i="1" dirty="0"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109</a:t>
            </a:r>
            <a:r>
              <a:rPr lang="en-GB" sz="1600" dirty="0"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(5), 1431–1436. </a:t>
            </a:r>
            <a:r>
              <a:rPr lang="en-GB" sz="1600" dirty="0">
                <a:effectLst/>
                <a:latin typeface="Malgun Gothic" panose="020B0503020000020004" pitchFamily="34" charset="-127"/>
                <a:ea typeface="Malgun Gothic" panose="020B0503020000020004" pitchFamily="34" charset="-127"/>
                <a:hlinkClick r:id="rId2"/>
              </a:rPr>
              <a:t>https://doi.org/10.1073/pnas.1114783109</a:t>
            </a:r>
            <a:endParaRPr lang="en-GB" sz="1600" dirty="0">
              <a:effectLst/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>
              <a:spcBef>
                <a:spcPts val="1200"/>
              </a:spcBef>
            </a:pPr>
            <a:r>
              <a:rPr lang="en-GB" sz="1600" dirty="0" smtClean="0"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[2] </a:t>
            </a:r>
            <a:r>
              <a:rPr lang="en-GB" sz="1600" dirty="0" err="1" smtClean="0"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Ayneto</a:t>
            </a:r>
            <a:r>
              <a:rPr lang="en-GB" sz="1600" dirty="0"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, A., &amp; Sebastian‐</a:t>
            </a:r>
            <a:r>
              <a:rPr lang="en-GB" sz="1600" dirty="0" err="1"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Galles</a:t>
            </a:r>
            <a:r>
              <a:rPr lang="en-GB" sz="1600" dirty="0"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, N. (2017). The influence of bilingualism on the preference for the mouth region of dynamic faces. </a:t>
            </a:r>
            <a:r>
              <a:rPr lang="en-GB" sz="1600" i="1" dirty="0"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Developmental Science</a:t>
            </a:r>
            <a:r>
              <a:rPr lang="en-GB" sz="1600" dirty="0"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. https://doi.org/10.1111/desc.12446</a:t>
            </a:r>
          </a:p>
          <a:p>
            <a:pPr>
              <a:spcBef>
                <a:spcPts val="1200"/>
              </a:spcBef>
            </a:pPr>
            <a:r>
              <a:rPr lang="en-GB" sz="1600" dirty="0" smtClean="0"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[3] Pons</a:t>
            </a:r>
            <a:r>
              <a:rPr lang="en-GB" sz="1600" dirty="0"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, F., Bosch, L., &amp; Lewkowicz, D. J. (2015). Bilingualism Modulates Infants’ Selective Attention to the Mouth of a Talking Face. </a:t>
            </a:r>
            <a:r>
              <a:rPr lang="en-GB" sz="1600" i="1" dirty="0"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Psychological Science</a:t>
            </a:r>
            <a:r>
              <a:rPr lang="en-GB" sz="1600" dirty="0"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. https://</a:t>
            </a:r>
            <a:r>
              <a:rPr lang="en-GB" sz="1600" dirty="0" smtClean="0">
                <a:effectLst/>
                <a:latin typeface="Malgun Gothic" panose="020B0503020000020004" pitchFamily="34" charset="-127"/>
                <a:ea typeface="Malgun Gothic" panose="020B0503020000020004" pitchFamily="34" charset="-127"/>
              </a:rPr>
              <a:t>doi.org/10.1177/0956797614568320</a:t>
            </a:r>
            <a:endParaRPr lang="en-US" sz="16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endParaRPr lang="en-GB" sz="1600" baseline="300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3C165F-BC6C-AD52-5347-85ADC2CD2446}"/>
              </a:ext>
            </a:extLst>
          </p:cNvPr>
          <p:cNvSpPr txBox="1"/>
          <p:nvPr/>
        </p:nvSpPr>
        <p:spPr>
          <a:xfrm>
            <a:off x="758040" y="29846755"/>
            <a:ext cx="72564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Participants</a:t>
            </a:r>
            <a:endParaRPr lang="en-US" sz="8000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graphicFrame>
        <p:nvGraphicFramePr>
          <p:cNvPr id="18" name="Table 18">
            <a:extLst>
              <a:ext uri="{FF2B5EF4-FFF2-40B4-BE49-F238E27FC236}">
                <a16:creationId xmlns:a16="http://schemas.microsoft.com/office/drawing/2014/main" id="{E363ACCB-B9F9-5EE4-4863-496BDD105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0507614"/>
              </p:ext>
            </p:extLst>
          </p:nvPr>
        </p:nvGraphicFramePr>
        <p:xfrm>
          <a:off x="871350" y="31665902"/>
          <a:ext cx="11358750" cy="35172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05096">
                  <a:extLst>
                    <a:ext uri="{9D8B030D-6E8A-4147-A177-3AD203B41FA5}">
                      <a16:colId xmlns:a16="http://schemas.microsoft.com/office/drawing/2014/main" val="3937675309"/>
                    </a:ext>
                  </a:extLst>
                </a:gridCol>
                <a:gridCol w="4225554">
                  <a:extLst>
                    <a:ext uri="{9D8B030D-6E8A-4147-A177-3AD203B41FA5}">
                      <a16:colId xmlns:a16="http://schemas.microsoft.com/office/drawing/2014/main" val="2483126608"/>
                    </a:ext>
                  </a:extLst>
                </a:gridCol>
                <a:gridCol w="4728100">
                  <a:extLst>
                    <a:ext uri="{9D8B030D-6E8A-4147-A177-3AD203B41FA5}">
                      <a16:colId xmlns:a16="http://schemas.microsoft.com/office/drawing/2014/main" val="3397760137"/>
                    </a:ext>
                  </a:extLst>
                </a:gridCol>
              </a:tblGrid>
              <a:tr h="1356722">
                <a:tc>
                  <a:txBody>
                    <a:bodyPr/>
                    <a:lstStyle/>
                    <a:p>
                      <a:pPr algn="ctr"/>
                      <a:r>
                        <a:rPr lang="ca-ES" sz="4800" b="1" dirty="0" err="1" smtClean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Age</a:t>
                      </a:r>
                      <a:endParaRPr lang="en-GB" sz="4800" b="1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 b="1" noProof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Monolinguals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 b="1" noProof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Bilinguals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3765484"/>
                  </a:ext>
                </a:extLst>
              </a:tr>
              <a:tr h="485754">
                <a:tc>
                  <a:txBody>
                    <a:bodyPr/>
                    <a:lstStyle/>
                    <a:p>
                      <a:pPr algn="ctr"/>
                      <a:r>
                        <a:rPr lang="es-ES" sz="4800" dirty="0" smtClean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8 </a:t>
                      </a:r>
                      <a:r>
                        <a:rPr lang="es-ES" sz="4800" dirty="0" err="1" smtClean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mo</a:t>
                      </a:r>
                      <a:endParaRPr lang="en-GB" sz="480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13</a:t>
                      </a:r>
                      <a:endParaRPr lang="en-GB" sz="480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14</a:t>
                      </a:r>
                      <a:endParaRPr lang="en-GB" sz="480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12286923"/>
                  </a:ext>
                </a:extLst>
              </a:tr>
              <a:tr h="1337588">
                <a:tc>
                  <a:txBody>
                    <a:bodyPr/>
                    <a:lstStyle/>
                    <a:p>
                      <a:pPr algn="ctr"/>
                      <a:r>
                        <a:rPr lang="es-ES" sz="4800" dirty="0" smtClean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12 </a:t>
                      </a:r>
                      <a:r>
                        <a:rPr lang="es-ES" sz="4800" dirty="0" err="1" smtClean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mo</a:t>
                      </a:r>
                      <a:endParaRPr lang="en-GB" sz="480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17</a:t>
                      </a:r>
                      <a:endParaRPr lang="en-GB" sz="480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11</a:t>
                      </a:r>
                      <a:endParaRPr lang="en-GB" sz="480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9787943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08E38F6D-0E3C-1CD5-9859-643DF0E7E0D9}"/>
              </a:ext>
            </a:extLst>
          </p:cNvPr>
          <p:cNvSpPr txBox="1"/>
          <p:nvPr/>
        </p:nvSpPr>
        <p:spPr>
          <a:xfrm>
            <a:off x="18849366" y="15590026"/>
            <a:ext cx="51601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Results</a:t>
            </a:r>
            <a:endParaRPr lang="en-US" sz="7200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22" name="AutoShape 2">
            <a:extLst>
              <a:ext uri="{FF2B5EF4-FFF2-40B4-BE49-F238E27FC236}">
                <a16:creationId xmlns:a16="http://schemas.microsoft.com/office/drawing/2014/main" id="{AD1BB6F3-5C12-E39F-BDEA-58BAE3B99C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992024" y="23306924"/>
            <a:ext cx="8139983" cy="8139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30" name="Picture 29" descr="A screenshot of a cell phone&#10;&#10;Description automatically generated">
            <a:extLst>
              <a:ext uri="{FF2B5EF4-FFF2-40B4-BE49-F238E27FC236}">
                <a16:creationId xmlns:a16="http://schemas.microsoft.com/office/drawing/2014/main" id="{2EC44DD1-4498-AFB4-BC08-FFB08F294C9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10" b="18797"/>
          <a:stretch/>
        </p:blipFill>
        <p:spPr>
          <a:xfrm>
            <a:off x="7426361" y="41186738"/>
            <a:ext cx="2455660" cy="1630257"/>
          </a:xfrm>
          <a:prstGeom prst="rect">
            <a:avLst/>
          </a:prstGeom>
        </p:spPr>
      </p:pic>
      <p:pic>
        <p:nvPicPr>
          <p:cNvPr id="32" name="Picture 31" descr="A picture containing drawing&#10;&#10;Description automatically generated">
            <a:extLst>
              <a:ext uri="{FF2B5EF4-FFF2-40B4-BE49-F238E27FC236}">
                <a16:creationId xmlns:a16="http://schemas.microsoft.com/office/drawing/2014/main" id="{D75FC170-0A05-5328-D234-5007532FAC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995" y="41139924"/>
            <a:ext cx="6658730" cy="1630257"/>
          </a:xfrm>
          <a:prstGeom prst="rect">
            <a:avLst/>
          </a:prstGeom>
        </p:spPr>
      </p:pic>
      <p:sp>
        <p:nvSpPr>
          <p:cNvPr id="8" name="Rectángulo 7"/>
          <p:cNvSpPr/>
          <p:nvPr/>
        </p:nvSpPr>
        <p:spPr>
          <a:xfrm>
            <a:off x="696612" y="1869854"/>
            <a:ext cx="29039501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400"/>
              </a:spcBef>
            </a:pPr>
            <a:r>
              <a:rPr lang="es-ES" sz="6000" dirty="0" smtClean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Konstantina </a:t>
            </a:r>
            <a:r>
              <a:rPr lang="es-ES" sz="60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Zacharaki</a:t>
            </a:r>
            <a:r>
              <a:rPr lang="es-ES" sz="6000" baseline="300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1 </a:t>
            </a:r>
            <a:r>
              <a:rPr lang="es-ES" sz="60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, Gonzalo Garcia-Castro</a:t>
            </a:r>
            <a:r>
              <a:rPr lang="es-ES" sz="6000" baseline="300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1</a:t>
            </a:r>
            <a:r>
              <a:rPr lang="es-ES" sz="60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&amp; Nuria </a:t>
            </a:r>
            <a:r>
              <a:rPr lang="es-ES" sz="6000" dirty="0" smtClean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Sebastian-Galles</a:t>
            </a:r>
            <a:r>
              <a:rPr lang="es-ES" sz="6000" baseline="30000" dirty="0" smtClean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1</a:t>
            </a:r>
            <a:endParaRPr lang="es-ES" sz="6000" baseline="30000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>
              <a:spcBef>
                <a:spcPts val="2400"/>
              </a:spcBef>
            </a:pPr>
            <a:r>
              <a:rPr lang="es-ES" sz="4800" i="1" baseline="300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1 </a:t>
            </a:r>
            <a:r>
              <a:rPr lang="es-ES" sz="4800" i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Center </a:t>
            </a:r>
            <a:r>
              <a:rPr lang="es-ES" sz="4800" i="1" dirty="0" err="1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for</a:t>
            </a:r>
            <a:r>
              <a:rPr lang="es-ES" sz="4800" i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s-ES" sz="4800" i="1" dirty="0" err="1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Brain</a:t>
            </a:r>
            <a:r>
              <a:rPr lang="es-ES" sz="4800" i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and </a:t>
            </a:r>
            <a:r>
              <a:rPr lang="es-ES" sz="4800" i="1" dirty="0" err="1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Cognition</a:t>
            </a:r>
            <a:r>
              <a:rPr lang="es-ES" sz="4800" i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, </a:t>
            </a:r>
            <a:r>
              <a:rPr lang="es-ES" sz="4800" i="1" dirty="0" err="1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Universitat</a:t>
            </a:r>
            <a:r>
              <a:rPr lang="es-ES" sz="4800" i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s-ES" sz="4800" i="1" dirty="0" err="1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Pompeu</a:t>
            </a:r>
            <a:r>
              <a:rPr lang="es-ES" sz="4800" i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s-ES" sz="4800" i="1" dirty="0" err="1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Fabra</a:t>
            </a:r>
            <a:endParaRPr lang="es-ES" sz="4800" i="1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0" name="Rectángulo 9"/>
          <p:cNvSpPr/>
          <p:nvPr/>
        </p:nvSpPr>
        <p:spPr>
          <a:xfrm>
            <a:off x="561220" y="282596"/>
            <a:ext cx="31924151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8800" b="1" dirty="0" err="1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Selective</a:t>
            </a:r>
            <a:r>
              <a:rPr lang="es-ES" sz="8800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s-ES" sz="8800" b="1" dirty="0" err="1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attention</a:t>
            </a:r>
            <a:r>
              <a:rPr lang="es-ES" sz="8800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to </a:t>
            </a:r>
            <a:r>
              <a:rPr lang="es-ES" sz="8800" b="1" dirty="0" err="1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the</a:t>
            </a:r>
            <a:r>
              <a:rPr lang="es-ES" sz="8800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s-ES" sz="8800" b="1" dirty="0" err="1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mouth</a:t>
            </a:r>
            <a:r>
              <a:rPr lang="es-ES" sz="8800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of </a:t>
            </a:r>
            <a:r>
              <a:rPr lang="es-ES" sz="8800" b="1" dirty="0" err="1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signing</a:t>
            </a:r>
            <a:r>
              <a:rPr lang="es-ES" sz="8800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faces</a:t>
            </a:r>
          </a:p>
        </p:txBody>
      </p:sp>
      <p:sp>
        <p:nvSpPr>
          <p:cNvPr id="26" name="Rectángulo 25"/>
          <p:cNvSpPr/>
          <p:nvPr/>
        </p:nvSpPr>
        <p:spPr>
          <a:xfrm>
            <a:off x="-1" y="6748715"/>
            <a:ext cx="18096741" cy="76504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39" name="Grupo 38"/>
          <p:cNvGrpSpPr/>
          <p:nvPr/>
        </p:nvGrpSpPr>
        <p:grpSpPr>
          <a:xfrm>
            <a:off x="681302" y="5007276"/>
            <a:ext cx="15656174" cy="15184419"/>
            <a:chOff x="1080530" y="5493412"/>
            <a:chExt cx="15656174" cy="15184419"/>
          </a:xfrm>
        </p:grpSpPr>
        <p:sp>
          <p:nvSpPr>
            <p:cNvPr id="17" name="Rectángulo 16"/>
            <p:cNvSpPr/>
            <p:nvPr/>
          </p:nvSpPr>
          <p:spPr>
            <a:xfrm>
              <a:off x="1080530" y="5493412"/>
              <a:ext cx="5649624" cy="120032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7200" b="1" dirty="0">
                  <a:latin typeface="Malgun Gothic" panose="020B0503020000020004" pitchFamily="34" charset="-127"/>
                  <a:ea typeface="Malgun Gothic" panose="020B0503020000020004" pitchFamily="34" charset="-127"/>
                </a:rPr>
                <a:t>Introduction</a:t>
              </a:r>
              <a:endParaRPr lang="en-US" sz="8000" b="1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  <p:sp>
          <p:nvSpPr>
            <p:cNvPr id="27" name="Rectángulo 26"/>
            <p:cNvSpPr/>
            <p:nvPr/>
          </p:nvSpPr>
          <p:spPr>
            <a:xfrm>
              <a:off x="1080530" y="6858663"/>
              <a:ext cx="15656174" cy="1381916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ts val="2400"/>
                </a:spcBef>
              </a:pPr>
              <a:endParaRPr lang="en-US" sz="6000" b="1" baseline="300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>
                <a:spcBef>
                  <a:spcPts val="2400"/>
                </a:spcBef>
              </a:pPr>
              <a:endParaRPr lang="en-US" sz="6000" b="1" baseline="30000" dirty="0" smtClean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>
                <a:spcBef>
                  <a:spcPts val="2400"/>
                </a:spcBef>
              </a:pPr>
              <a:endParaRPr lang="en-US" sz="6000" b="1" baseline="300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>
                <a:spcBef>
                  <a:spcPts val="2400"/>
                </a:spcBef>
              </a:pPr>
              <a:endParaRPr lang="en-US" sz="6000" b="1" baseline="30000" dirty="0" smtClean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>
                <a:spcBef>
                  <a:spcPts val="2400"/>
                </a:spcBef>
              </a:pPr>
              <a:endParaRPr lang="en-US" sz="6000" b="1" baseline="300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>
                <a:spcBef>
                  <a:spcPts val="2400"/>
                </a:spcBef>
              </a:pPr>
              <a:endParaRPr lang="en-US" sz="6000" b="1" baseline="30000" dirty="0" smtClean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>
                <a:spcBef>
                  <a:spcPts val="2400"/>
                </a:spcBef>
              </a:pPr>
              <a:endParaRPr lang="en-US" sz="6000" b="1" baseline="300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>
                <a:spcBef>
                  <a:spcPts val="2400"/>
                </a:spcBef>
              </a:pPr>
              <a:endParaRPr lang="en-US" sz="6000" baseline="30000" dirty="0" smtClean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>
                <a:spcBef>
                  <a:spcPts val="2400"/>
                </a:spcBef>
              </a:pPr>
              <a:endParaRPr lang="en-US" sz="6000" baseline="300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>
                <a:spcBef>
                  <a:spcPts val="2400"/>
                </a:spcBef>
              </a:pPr>
              <a:endParaRPr lang="en-US" sz="6000" b="1" dirty="0" smtClean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>
                <a:spcBef>
                  <a:spcPts val="2400"/>
                </a:spcBef>
              </a:pPr>
              <a:endParaRPr lang="en-US" sz="6000" b="1" dirty="0" smtClean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>
                <a:spcBef>
                  <a:spcPts val="2400"/>
                </a:spcBef>
              </a:pPr>
              <a:endParaRPr lang="en-US" sz="3200" b="1" dirty="0" smtClean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>
                <a:spcBef>
                  <a:spcPts val="2400"/>
                </a:spcBef>
              </a:pPr>
              <a:endParaRPr lang="en-US" sz="6000" dirty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>
                <a:spcBef>
                  <a:spcPts val="2400"/>
                </a:spcBef>
              </a:pPr>
              <a:endParaRPr lang="en-US" sz="6000" dirty="0" smtClean="0"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F1462464-0D64-C888-5E13-D00B658812E1}"/>
              </a:ext>
            </a:extLst>
          </p:cNvPr>
          <p:cNvSpPr txBox="1"/>
          <p:nvPr/>
        </p:nvSpPr>
        <p:spPr>
          <a:xfrm>
            <a:off x="19308882" y="7360102"/>
            <a:ext cx="1579903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Passive watching of </a:t>
            </a:r>
            <a:r>
              <a:rPr lang="en-US" sz="5400" b="1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∼10 secs videos </a:t>
            </a:r>
            <a:r>
              <a:rPr lang="en-US" sz="5400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of a person signing in </a:t>
            </a:r>
            <a:r>
              <a:rPr lang="en-US" sz="5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each language </a:t>
            </a:r>
            <a:r>
              <a:rPr lang="en-US" sz="5400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(27 videos in BSL/ 27 videos in JSL</a:t>
            </a:r>
            <a:r>
              <a:rPr lang="en-US" sz="5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) </a:t>
            </a:r>
            <a:r>
              <a:rPr lang="en-US" sz="5400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presented in </a:t>
            </a:r>
            <a:r>
              <a:rPr lang="en-US" sz="5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blocks of 5 </a:t>
            </a:r>
            <a:r>
              <a:rPr lang="en-US" sz="5400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(max. 11 min</a:t>
            </a:r>
            <a:r>
              <a:rPr lang="en-US" sz="5400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)</a:t>
            </a:r>
            <a:endParaRPr lang="en-US" sz="5400" dirty="0" smtClean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3" name="Rectángulo 32"/>
          <p:cNvSpPr/>
          <p:nvPr/>
        </p:nvSpPr>
        <p:spPr>
          <a:xfrm>
            <a:off x="18849366" y="5747801"/>
            <a:ext cx="1730131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72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Procedure</a:t>
            </a:r>
            <a:endParaRPr lang="en-GB" sz="8000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34" name="Rectángulo 33"/>
          <p:cNvSpPr/>
          <p:nvPr/>
        </p:nvSpPr>
        <p:spPr>
          <a:xfrm>
            <a:off x="14138542" y="37179847"/>
            <a:ext cx="5412059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72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Conclusions</a:t>
            </a:r>
          </a:p>
        </p:txBody>
      </p:sp>
      <p:grpSp>
        <p:nvGrpSpPr>
          <p:cNvPr id="37" name="Grupo 36"/>
          <p:cNvGrpSpPr/>
          <p:nvPr/>
        </p:nvGrpSpPr>
        <p:grpSpPr>
          <a:xfrm>
            <a:off x="14138542" y="38486448"/>
            <a:ext cx="21861197" cy="4741000"/>
            <a:chOff x="20182459" y="35547698"/>
            <a:chExt cx="16376508" cy="4393858"/>
          </a:xfrm>
        </p:grpSpPr>
        <p:sp>
          <p:nvSpPr>
            <p:cNvPr id="35" name="Rectángulo 34"/>
            <p:cNvSpPr/>
            <p:nvPr/>
          </p:nvSpPr>
          <p:spPr>
            <a:xfrm>
              <a:off x="20182459" y="35547698"/>
              <a:ext cx="16376508" cy="4393858"/>
            </a:xfrm>
            <a:prstGeom prst="rect">
              <a:avLst/>
            </a:prstGeom>
            <a:solidFill>
              <a:srgbClr val="0086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Rectángulo 35"/>
            <p:cNvSpPr/>
            <p:nvPr/>
          </p:nvSpPr>
          <p:spPr>
            <a:xfrm>
              <a:off x="20450096" y="35877447"/>
              <a:ext cx="15725696" cy="3223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spcBef>
                  <a:spcPts val="2400"/>
                </a:spcBef>
              </a:pPr>
              <a:r>
                <a:rPr lang="en-US" sz="6000" b="1" dirty="0" smtClean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Mouth preference in all groups</a:t>
              </a:r>
              <a:r>
                <a:rPr lang="en-US" sz="6000" dirty="0" smtClean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, which increases with </a:t>
              </a:r>
              <a:r>
                <a:rPr lang="en-US" sz="6000" b="1" dirty="0" smtClean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age</a:t>
              </a:r>
            </a:p>
            <a:p>
              <a:pPr>
                <a:spcBef>
                  <a:spcPts val="2400"/>
                </a:spcBef>
              </a:pPr>
              <a:r>
                <a:rPr lang="en-US" sz="6000" b="1" dirty="0" smtClean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No shift </a:t>
              </a:r>
              <a:r>
                <a:rPr lang="en-US" sz="6000" dirty="0" smtClean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back to the eyes</a:t>
              </a:r>
              <a:endParaRPr lang="en-US" sz="6000" b="1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endParaRPr>
            </a:p>
            <a:p>
              <a:pPr>
                <a:spcBef>
                  <a:spcPts val="2400"/>
                </a:spcBef>
              </a:pPr>
              <a:r>
                <a:rPr lang="en-US" sz="6000" dirty="0" smtClean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Gaze patterns were not modulated by </a:t>
              </a:r>
              <a:r>
                <a:rPr lang="en-US" sz="6000" dirty="0" err="1" smtClean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languauge</a:t>
              </a:r>
              <a:r>
                <a:rPr lang="en-US" sz="6000" dirty="0" smtClean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 </a:t>
              </a:r>
              <a:r>
                <a:rPr lang="en-US" sz="6000" dirty="0" smtClean="0">
                  <a:solidFill>
                    <a:schemeClr val="bg1"/>
                  </a:solidFill>
                  <a:latin typeface="Malgun Gothic" panose="020B0503020000020004" pitchFamily="34" charset="-127"/>
                  <a:ea typeface="Malgun Gothic" panose="020B0503020000020004" pitchFamily="34" charset="-127"/>
                </a:rPr>
                <a:t>profile</a:t>
              </a:r>
            </a:p>
          </p:txBody>
        </p:sp>
      </p:grpSp>
      <p:sp>
        <p:nvSpPr>
          <p:cNvPr id="82" name="CuadroTexto 81"/>
          <p:cNvSpPr txBox="1"/>
          <p:nvPr/>
        </p:nvSpPr>
        <p:spPr>
          <a:xfrm>
            <a:off x="19007662" y="17002898"/>
            <a:ext cx="1640147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2400"/>
              </a:spcBef>
            </a:pPr>
            <a:r>
              <a:rPr lang="en-US" sz="4800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Generalized Bayesian multilevel model </a:t>
            </a:r>
            <a:r>
              <a:rPr lang="en-US" sz="48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in </a:t>
            </a:r>
            <a:r>
              <a:rPr lang="en-US" sz="4800" dirty="0" err="1">
                <a:latin typeface="Consolas" panose="020B0609020204030204" pitchFamily="49" charset="0"/>
                <a:ea typeface="Malgun Gothic" panose="020B0503020000020004" pitchFamily="34" charset="-127"/>
              </a:rPr>
              <a:t>brms</a:t>
            </a:r>
            <a:endParaRPr lang="en-US" sz="4800" dirty="0" smtClean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>
              <a:spcBef>
                <a:spcPts val="2400"/>
              </a:spcBef>
            </a:pPr>
            <a:r>
              <a:rPr lang="en-US" sz="4800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Zero-inflated Beta link distribution</a:t>
            </a:r>
            <a:endParaRPr lang="ca-ES" sz="4800" dirty="0" smtClean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  <a:p>
            <a:pPr>
              <a:spcBef>
                <a:spcPts val="2400"/>
              </a:spcBef>
            </a:pPr>
            <a:r>
              <a:rPr lang="ca-ES" sz="4800" b="1" dirty="0" err="1" smtClean="0">
                <a:latin typeface="Consolas" panose="020B0609020204030204" pitchFamily="49" charset="0"/>
                <a:ea typeface="Malgun Gothic" panose="020B0503020000020004" pitchFamily="34" charset="-127"/>
              </a:rPr>
              <a:t>ptlt</a:t>
            </a:r>
            <a:r>
              <a:rPr lang="ca-ES" sz="4800" b="1" dirty="0" smtClean="0">
                <a:latin typeface="Consolas" panose="020B0609020204030204" pitchFamily="49" charset="0"/>
                <a:ea typeface="Malgun Gothic" panose="020B0503020000020004" pitchFamily="34" charset="-127"/>
              </a:rPr>
              <a:t> </a:t>
            </a:r>
            <a:r>
              <a:rPr lang="ca-ES" sz="4800" b="1" dirty="0">
                <a:latin typeface="Consolas" panose="020B0609020204030204" pitchFamily="49" charset="0"/>
                <a:ea typeface="Malgun Gothic" panose="020B0503020000020004" pitchFamily="34" charset="-127"/>
              </a:rPr>
              <a:t>~ </a:t>
            </a:r>
            <a:r>
              <a:rPr lang="ca-ES" sz="4800" b="1" dirty="0" err="1" smtClean="0">
                <a:latin typeface="Consolas" panose="020B0609020204030204" pitchFamily="49" charset="0"/>
                <a:ea typeface="Malgun Gothic" panose="020B0503020000020004" pitchFamily="34" charset="-127"/>
              </a:rPr>
              <a:t>aoi</a:t>
            </a:r>
            <a:r>
              <a:rPr lang="ca-ES" sz="4800" b="1" dirty="0" smtClean="0">
                <a:latin typeface="Consolas" panose="020B0609020204030204" pitchFamily="49" charset="0"/>
                <a:ea typeface="Malgun Gothic" panose="020B0503020000020004" pitchFamily="34" charset="-127"/>
              </a:rPr>
              <a:t> * </a:t>
            </a:r>
            <a:r>
              <a:rPr lang="ca-ES" sz="4800" b="1" dirty="0" err="1" smtClean="0">
                <a:latin typeface="Consolas" panose="020B0609020204030204" pitchFamily="49" charset="0"/>
                <a:ea typeface="Malgun Gothic" panose="020B0503020000020004" pitchFamily="34" charset="-127"/>
              </a:rPr>
              <a:t>age_group</a:t>
            </a:r>
            <a:r>
              <a:rPr lang="ca-ES" sz="4800" b="1" dirty="0" smtClean="0">
                <a:latin typeface="Consolas" panose="020B0609020204030204" pitchFamily="49" charset="0"/>
                <a:ea typeface="Malgun Gothic" panose="020B0503020000020004" pitchFamily="34" charset="-127"/>
              </a:rPr>
              <a:t> </a:t>
            </a:r>
            <a:r>
              <a:rPr lang="ca-ES" sz="4800" b="1" dirty="0" smtClean="0">
                <a:latin typeface="Consolas" panose="020B0609020204030204" pitchFamily="49" charset="0"/>
                <a:ea typeface="Malgun Gothic" panose="020B0503020000020004" pitchFamily="34" charset="-127"/>
              </a:rPr>
              <a:t>+ </a:t>
            </a:r>
            <a:r>
              <a:rPr lang="ca-ES" sz="4800" b="1" dirty="0">
                <a:latin typeface="Consolas" panose="020B0609020204030204" pitchFamily="49" charset="0"/>
                <a:ea typeface="Malgun Gothic" panose="020B0503020000020004" pitchFamily="34" charset="-127"/>
              </a:rPr>
              <a:t>(1 + </a:t>
            </a:r>
            <a:r>
              <a:rPr lang="ca-ES" sz="4800" b="1" dirty="0" err="1">
                <a:latin typeface="Consolas" panose="020B0609020204030204" pitchFamily="49" charset="0"/>
                <a:ea typeface="Malgun Gothic" panose="020B0503020000020004" pitchFamily="34" charset="-127"/>
              </a:rPr>
              <a:t>aoi</a:t>
            </a:r>
            <a:r>
              <a:rPr lang="ca-ES" sz="4800" b="1" dirty="0">
                <a:latin typeface="Consolas" panose="020B0609020204030204" pitchFamily="49" charset="0"/>
                <a:ea typeface="Malgun Gothic" panose="020B0503020000020004" pitchFamily="34" charset="-127"/>
              </a:rPr>
              <a:t> | </a:t>
            </a:r>
            <a:r>
              <a:rPr lang="ca-ES" sz="4800" b="1" dirty="0" smtClean="0">
                <a:latin typeface="Consolas" panose="020B0609020204030204" pitchFamily="49" charset="0"/>
                <a:ea typeface="Malgun Gothic" panose="020B0503020000020004" pitchFamily="34" charset="-127"/>
              </a:rPr>
              <a:t>participant)</a:t>
            </a:r>
          </a:p>
          <a:p>
            <a:pPr>
              <a:spcBef>
                <a:spcPts val="2400"/>
              </a:spcBef>
            </a:pPr>
            <a:r>
              <a:rPr lang="ca-ES" sz="4800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No </a:t>
            </a:r>
            <a:r>
              <a:rPr lang="ca-ES" sz="4800" dirty="0" err="1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effect</a:t>
            </a:r>
            <a:r>
              <a:rPr lang="ca-ES" sz="4800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 of </a:t>
            </a:r>
            <a:r>
              <a:rPr lang="ca-ES" sz="4800" dirty="0" err="1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bilingualism</a:t>
            </a:r>
            <a:endParaRPr lang="ca-ES" sz="48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1041" name="Imagen 1040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1696" y="40031393"/>
            <a:ext cx="2711225" cy="2711225"/>
          </a:xfrm>
          <a:prstGeom prst="rect">
            <a:avLst/>
          </a:prstGeom>
        </p:spPr>
      </p:pic>
      <p:pic>
        <p:nvPicPr>
          <p:cNvPr id="1042" name="Imagen 1041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030" y="39461310"/>
            <a:ext cx="1106610" cy="1106610"/>
          </a:xfrm>
          <a:prstGeom prst="rect">
            <a:avLst/>
          </a:prstGeom>
        </p:spPr>
      </p:pic>
      <p:sp>
        <p:nvSpPr>
          <p:cNvPr id="1055" name="CuadroTexto 1054"/>
          <p:cNvSpPr txBox="1"/>
          <p:nvPr/>
        </p:nvSpPr>
        <p:spPr>
          <a:xfrm>
            <a:off x="9998710" y="38880155"/>
            <a:ext cx="36301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ca-ES" sz="3200" dirty="0" err="1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Poster</a:t>
            </a:r>
            <a:r>
              <a:rPr lang="ca-ES" sz="3200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, materials </a:t>
            </a:r>
            <a:r>
              <a:rPr lang="ca-ES" sz="3200" dirty="0" err="1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and</a:t>
            </a:r>
            <a:r>
              <a:rPr lang="ca-ES" sz="3200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ca-ES" sz="3200" dirty="0" err="1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code</a:t>
            </a:r>
            <a:r>
              <a:rPr lang="ca-ES" sz="3200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ca-ES" sz="3200" dirty="0" err="1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here</a:t>
            </a:r>
            <a:r>
              <a:rPr lang="ca-ES" sz="3200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!</a:t>
            </a:r>
            <a:endParaRPr lang="en-GB" sz="32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75" name="Imagen 74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04118" y="1602769"/>
            <a:ext cx="2779282" cy="962268"/>
          </a:xfrm>
          <a:prstGeom prst="rect">
            <a:avLst/>
          </a:prstGeom>
        </p:spPr>
      </p:pic>
      <p:pic>
        <p:nvPicPr>
          <p:cNvPr id="76" name="Imagen 7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04118" y="0"/>
            <a:ext cx="6495620" cy="1443471"/>
          </a:xfrm>
          <a:prstGeom prst="rect">
            <a:avLst/>
          </a:prstGeom>
        </p:spPr>
      </p:pic>
      <p:pic>
        <p:nvPicPr>
          <p:cNvPr id="88" name="Imagen 87"/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72255" y="3517471"/>
            <a:ext cx="659867" cy="659867"/>
          </a:xfrm>
          <a:prstGeom prst="rect">
            <a:avLst/>
          </a:prstGeom>
        </p:spPr>
      </p:pic>
      <p:sp>
        <p:nvSpPr>
          <p:cNvPr id="89" name="CuadroTexto 88"/>
          <p:cNvSpPr txBox="1"/>
          <p:nvPr/>
        </p:nvSpPr>
        <p:spPr>
          <a:xfrm>
            <a:off x="30472540" y="3470680"/>
            <a:ext cx="16951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000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@</a:t>
            </a:r>
            <a:r>
              <a:rPr lang="ca-ES" sz="2000" dirty="0" err="1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KZacharaki</a:t>
            </a:r>
            <a:endParaRPr lang="en-GB" sz="20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28" name="CuadroTexto 127"/>
          <p:cNvSpPr txBox="1"/>
          <p:nvPr/>
        </p:nvSpPr>
        <p:spPr>
          <a:xfrm>
            <a:off x="30472540" y="3867629"/>
            <a:ext cx="17423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000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@gongcastro</a:t>
            </a:r>
            <a:endParaRPr lang="en-GB" sz="20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90" name="Imagen 89"/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78007" y="2721367"/>
            <a:ext cx="648364" cy="648364"/>
          </a:xfrm>
          <a:prstGeom prst="rect">
            <a:avLst/>
          </a:prstGeom>
        </p:spPr>
      </p:pic>
      <p:sp>
        <p:nvSpPr>
          <p:cNvPr id="130" name="CuadroTexto 129"/>
          <p:cNvSpPr txBox="1"/>
          <p:nvPr/>
        </p:nvSpPr>
        <p:spPr>
          <a:xfrm>
            <a:off x="30581363" y="2808219"/>
            <a:ext cx="37651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sz="2000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konstantina.zacharaki@upf.edu</a:t>
            </a:r>
            <a:endParaRPr lang="en-GB" sz="20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1026" name="Picture 2" descr="https://www.pnas.org/cms/10.1073/pnas.1114783109/asset/6e5326bd-e5cf-4dff-b858-10fb313c9605/assets/graphic/pnas.1114783109fig01.jpe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5605" y="6835873"/>
            <a:ext cx="5770891" cy="5694247"/>
          </a:xfrm>
          <a:prstGeom prst="rect">
            <a:avLst/>
          </a:prstGeom>
          <a:noFill/>
          <a:ln w="38100">
            <a:solidFill>
              <a:srgbClr val="D04E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upo 2"/>
          <p:cNvGrpSpPr>
            <a:grpSpLocks noChangeAspect="1"/>
          </p:cNvGrpSpPr>
          <p:nvPr/>
        </p:nvGrpSpPr>
        <p:grpSpPr>
          <a:xfrm>
            <a:off x="11365605" y="12774784"/>
            <a:ext cx="5770891" cy="4446665"/>
            <a:chOff x="9705769" y="16313636"/>
            <a:chExt cx="7364634" cy="5380017"/>
          </a:xfrm>
        </p:grpSpPr>
        <p:pic>
          <p:nvPicPr>
            <p:cNvPr id="58" name="Picture 8">
              <a:extLst>
                <a:ext uri="{FF2B5EF4-FFF2-40B4-BE49-F238E27FC236}">
                  <a16:creationId xmlns:a16="http://schemas.microsoft.com/office/drawing/2014/main" id="{BDF164B2-F759-423B-F347-B6CFCB8F70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705769" y="16313636"/>
              <a:ext cx="7364634" cy="5380017"/>
            </a:xfrm>
            <a:prstGeom prst="rect">
              <a:avLst/>
            </a:prstGeom>
            <a:ln w="38100">
              <a:solidFill>
                <a:srgbClr val="D04E00"/>
              </a:solidFill>
            </a:ln>
          </p:spPr>
        </p:pic>
        <p:sp>
          <p:nvSpPr>
            <p:cNvPr id="124" name="Rectángulo 123"/>
            <p:cNvSpPr/>
            <p:nvPr/>
          </p:nvSpPr>
          <p:spPr>
            <a:xfrm>
              <a:off x="12837870" y="17616541"/>
              <a:ext cx="1100431" cy="353631"/>
            </a:xfrm>
            <a:prstGeom prst="rect">
              <a:avLst/>
            </a:prstGeom>
            <a:solidFill>
              <a:srgbClr val="09FF26">
                <a:alpha val="60000"/>
              </a:srgb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3" name="Rectángulo 122"/>
            <p:cNvSpPr/>
            <p:nvPr/>
          </p:nvSpPr>
          <p:spPr>
            <a:xfrm>
              <a:off x="12837871" y="18064494"/>
              <a:ext cx="1100431" cy="353631"/>
            </a:xfrm>
            <a:prstGeom prst="rect">
              <a:avLst/>
            </a:prstGeom>
            <a:solidFill>
              <a:srgbClr val="09FFFF">
                <a:alpha val="60000"/>
              </a:srgb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2" name="Rectángulo 121"/>
            <p:cNvSpPr/>
            <p:nvPr/>
          </p:nvSpPr>
          <p:spPr>
            <a:xfrm>
              <a:off x="11587172" y="18581428"/>
              <a:ext cx="3601825" cy="3110602"/>
            </a:xfrm>
            <a:prstGeom prst="rect">
              <a:avLst/>
            </a:prstGeom>
            <a:solidFill>
              <a:srgbClr val="FF0000">
                <a:alpha val="60000"/>
              </a:srgb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9" name="CuadroTexto 8"/>
          <p:cNvSpPr txBox="1"/>
          <p:nvPr/>
        </p:nvSpPr>
        <p:spPr>
          <a:xfrm>
            <a:off x="696612" y="6930793"/>
            <a:ext cx="993402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Infants show a </a:t>
            </a:r>
            <a:r>
              <a:rPr lang="en-US" sz="66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U-shaped </a:t>
            </a:r>
            <a:r>
              <a:rPr lang="en-US" sz="66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scanning pattern of </a:t>
            </a:r>
            <a:r>
              <a:rPr lang="en-US" sz="66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talking </a:t>
            </a:r>
            <a:r>
              <a:rPr lang="en-US" sz="6600" b="1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faces</a:t>
            </a:r>
            <a:r>
              <a:rPr lang="en-US" sz="6600" b="1" baseline="30000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1</a:t>
            </a:r>
            <a:endParaRPr lang="en-US" sz="6600" b="1" baseline="300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29" name="Rectángulo 28"/>
          <p:cNvSpPr/>
          <p:nvPr/>
        </p:nvSpPr>
        <p:spPr>
          <a:xfrm>
            <a:off x="-22281" y="21147309"/>
            <a:ext cx="17659505" cy="34932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CuadroTexto 10"/>
          <p:cNvSpPr txBox="1"/>
          <p:nvPr/>
        </p:nvSpPr>
        <p:spPr>
          <a:xfrm>
            <a:off x="753182" y="10879576"/>
            <a:ext cx="1036746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2400"/>
              </a:spcBef>
            </a:pPr>
            <a:r>
              <a:rPr lang="en-US" sz="66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Similar patterns with </a:t>
            </a:r>
            <a:r>
              <a:rPr lang="en-US" sz="66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non-linguistic </a:t>
            </a:r>
            <a:r>
              <a:rPr lang="en-US" sz="6600" b="1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videos</a:t>
            </a:r>
            <a:r>
              <a:rPr lang="en-US" sz="6600" baseline="30000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2</a:t>
            </a:r>
            <a:endParaRPr lang="en-US" sz="6600" baseline="300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657995" y="14028855"/>
            <a:ext cx="940786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2400"/>
              </a:spcBef>
            </a:pPr>
            <a:r>
              <a:rPr lang="en-US" sz="66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Sign language is predominantly </a:t>
            </a:r>
            <a:r>
              <a:rPr lang="en-US" sz="6600" b="1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visual</a:t>
            </a:r>
            <a:endParaRPr lang="en-US" sz="6600" b="1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553168" y="17685498"/>
            <a:ext cx="1653088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Nacar</a:t>
            </a:r>
            <a:r>
              <a:rPr lang="en-US" sz="66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et al. (in prep.) found that </a:t>
            </a:r>
            <a:r>
              <a:rPr lang="en-US" sz="66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8 </a:t>
            </a:r>
            <a:r>
              <a:rPr lang="en-US" sz="6600" b="1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mo</a:t>
            </a:r>
            <a:r>
              <a:rPr lang="en-US" sz="66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sz="66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but </a:t>
            </a:r>
            <a:r>
              <a:rPr lang="en-US" sz="66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not 12 </a:t>
            </a:r>
            <a:r>
              <a:rPr lang="en-US" sz="6600" b="1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mo</a:t>
            </a:r>
            <a:r>
              <a:rPr lang="en-US" sz="66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can discriminate</a:t>
            </a:r>
            <a:r>
              <a:rPr lang="en-US" sz="66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BSL from </a:t>
            </a:r>
            <a:r>
              <a:rPr lang="en-US" sz="6600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JSL</a:t>
            </a:r>
            <a:endParaRPr lang="en-US" sz="66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4" name="Rectángulo 13"/>
          <p:cNvSpPr/>
          <p:nvPr/>
        </p:nvSpPr>
        <p:spPr>
          <a:xfrm>
            <a:off x="553168" y="21717769"/>
            <a:ext cx="1652163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2400"/>
              </a:spcBef>
            </a:pPr>
            <a:r>
              <a:rPr lang="en-US" sz="6600" b="1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Where</a:t>
            </a:r>
            <a:r>
              <a:rPr lang="en-US" sz="6600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sz="66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will 8 and 12 </a:t>
            </a:r>
            <a:r>
              <a:rPr lang="en-US" sz="66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mo</a:t>
            </a:r>
            <a:r>
              <a:rPr lang="en-US" sz="66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infants look at when seeing a </a:t>
            </a:r>
            <a:r>
              <a:rPr lang="en-US" sz="66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person signing</a:t>
            </a:r>
            <a:r>
              <a:rPr lang="en-US" sz="6600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?</a:t>
            </a:r>
            <a:endParaRPr lang="en-US" sz="66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335257" y="25132510"/>
            <a:ext cx="1568907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Will this effect be modulated by </a:t>
            </a:r>
            <a:r>
              <a:rPr lang="en-US" sz="66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bilingualism</a:t>
            </a:r>
            <a:r>
              <a:rPr lang="en-US" sz="66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as sometimes reported in other types of audiovisual </a:t>
            </a:r>
            <a:r>
              <a:rPr lang="en-US" sz="6600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processing</a:t>
            </a:r>
            <a:r>
              <a:rPr lang="en-US" sz="6600" baseline="30000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2</a:t>
            </a:r>
            <a:r>
              <a:rPr lang="en-US" sz="6600" baseline="300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, </a:t>
            </a:r>
            <a:r>
              <a:rPr lang="en-US" sz="6600" baseline="30000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3</a:t>
            </a:r>
            <a:endParaRPr lang="en-US" sz="6600" baseline="300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uadroTexto 18"/>
              <p:cNvSpPr txBox="1"/>
              <p:nvPr/>
            </p:nvSpPr>
            <p:spPr>
              <a:xfrm>
                <a:off x="28003691" y="11887531"/>
                <a:ext cx="6632841" cy="15588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ES" sz="4400">
                              <a:latin typeface="Cambria Math" panose="02040503050406030204" pitchFamily="18" charset="0"/>
                              <a:ea typeface="Malgun Gothic" panose="020B0503020000020004" pitchFamily="34" charset="-127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s-ES" sz="4400" i="0">
                              <a:latin typeface="Cambria Math" panose="02040503050406030204" pitchFamily="18" charset="0"/>
                              <a:ea typeface="Malgun Gothic" panose="020B0503020000020004" pitchFamily="34" charset="-127"/>
                            </a:rPr>
                            <m:t>TL</m:t>
                          </m:r>
                          <m:r>
                            <m:rPr>
                              <m:sty m:val="p"/>
                            </m:rPr>
                            <a:rPr lang="es-ES" sz="4400" i="0" baseline="-25000">
                              <a:latin typeface="Cambria Math" panose="02040503050406030204" pitchFamily="18" charset="0"/>
                              <a:ea typeface="Malgun Gothic" panose="020B0503020000020004" pitchFamily="34" charset="-127"/>
                            </a:rPr>
                            <m:t>AOI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ES" sz="4400" i="0">
                              <a:latin typeface="Cambria Math" panose="02040503050406030204" pitchFamily="18" charset="0"/>
                              <a:ea typeface="Malgun Gothic" panose="020B0503020000020004" pitchFamily="34" charset="-127"/>
                            </a:rPr>
                            <m:t>TL</m:t>
                          </m:r>
                          <m:r>
                            <m:rPr>
                              <m:sty m:val="p"/>
                            </m:rPr>
                            <a:rPr lang="es-ES" sz="4400" i="0" baseline="-25000">
                              <a:latin typeface="Cambria Math" panose="02040503050406030204" pitchFamily="18" charset="0"/>
                              <a:ea typeface="Malgun Gothic" panose="020B0503020000020004" pitchFamily="34" charset="-127"/>
                            </a:rPr>
                            <m:t>eyes</m:t>
                          </m:r>
                          <m:r>
                            <a:rPr lang="es-ES" sz="4400" i="0">
                              <a:latin typeface="Cambria Math" panose="02040503050406030204" pitchFamily="18" charset="0"/>
                              <a:ea typeface="Malgun Gothic" panose="020B0503020000020004" pitchFamily="34" charset="-127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s-ES" sz="4400" i="0">
                              <a:latin typeface="Cambria Math" panose="02040503050406030204" pitchFamily="18" charset="0"/>
                              <a:ea typeface="Malgun Gothic" panose="020B0503020000020004" pitchFamily="34" charset="-127"/>
                            </a:rPr>
                            <m:t>TL</m:t>
                          </m:r>
                          <m:r>
                            <m:rPr>
                              <m:sty m:val="p"/>
                            </m:rPr>
                            <a:rPr lang="es-ES" sz="4400" i="0" baseline="-25000">
                              <a:latin typeface="Cambria Math" panose="02040503050406030204" pitchFamily="18" charset="0"/>
                              <a:ea typeface="Malgun Gothic" panose="020B0503020000020004" pitchFamily="34" charset="-127"/>
                            </a:rPr>
                            <m:t>mouth</m:t>
                          </m:r>
                          <m:r>
                            <a:rPr lang="es-ES" sz="4400" i="0">
                              <a:latin typeface="Cambria Math" panose="02040503050406030204" pitchFamily="18" charset="0"/>
                              <a:ea typeface="Malgun Gothic" panose="020B0503020000020004" pitchFamily="34" charset="-127"/>
                            </a:rPr>
                            <m:t>+</m:t>
                          </m:r>
                          <m:sSub>
                            <m:sSubPr>
                              <m:ctrlPr>
                                <a:rPr lang="es-ES" sz="4400" smtClean="0"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ca-ES" sz="4400" b="0" i="0" smtClean="0"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</a:rPr>
                                <m:t>TL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ca-ES" sz="4400" b="0" i="0" smtClean="0">
                                  <a:latin typeface="Cambria Math" panose="02040503050406030204" pitchFamily="18" charset="0"/>
                                  <a:ea typeface="Malgun Gothic" panose="020B0503020000020004" pitchFamily="34" charset="-127"/>
                                </a:rPr>
                                <m:t>body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4400" dirty="0">
                              <a:latin typeface="Malgun Gothic" panose="020B0503020000020004" pitchFamily="34" charset="-127"/>
                              <a:ea typeface="Malgun Gothic" panose="020B0503020000020004" pitchFamily="34" charset="-127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GB" sz="4400" dirty="0">
                  <a:latin typeface="Malgun Gothic" panose="020B0503020000020004" pitchFamily="34" charset="-127"/>
                  <a:ea typeface="Malgun Gothic" panose="020B0503020000020004" pitchFamily="34" charset="-127"/>
                </a:endParaRPr>
              </a:p>
            </p:txBody>
          </p:sp>
        </mc:Choice>
        <mc:Fallback>
          <p:sp>
            <p:nvSpPr>
              <p:cNvPr id="19" name="CuadroTexto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03691" y="11887531"/>
                <a:ext cx="6632841" cy="155882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CuadroTexto 27"/>
          <p:cNvSpPr txBox="1"/>
          <p:nvPr/>
        </p:nvSpPr>
        <p:spPr>
          <a:xfrm>
            <a:off x="19339280" y="11041917"/>
            <a:ext cx="848151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Gaze registered using eye-tracker (</a:t>
            </a:r>
            <a:r>
              <a:rPr lang="en-US" sz="54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Tobbi</a:t>
            </a:r>
            <a:r>
              <a:rPr lang="en-US" sz="54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Pro </a:t>
            </a:r>
            <a:r>
              <a:rPr lang="en-US" sz="5400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Spectrum).</a:t>
            </a:r>
          </a:p>
        </p:txBody>
      </p:sp>
      <p:pic>
        <p:nvPicPr>
          <p:cNvPr id="41" name="Imagen 40"/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50800" y="21797532"/>
            <a:ext cx="16098446" cy="16098446"/>
          </a:xfrm>
          <a:prstGeom prst="rect">
            <a:avLst/>
          </a:prstGeom>
        </p:spPr>
      </p:pic>
      <p:sp>
        <p:nvSpPr>
          <p:cNvPr id="43" name="CuadroTexto 42"/>
          <p:cNvSpPr txBox="1"/>
          <p:nvPr/>
        </p:nvSpPr>
        <p:spPr>
          <a:xfrm>
            <a:off x="27840420" y="10885249"/>
            <a:ext cx="65060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PTLT formula </a:t>
            </a:r>
            <a:r>
              <a:rPr lang="en-US" sz="2800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(Pons </a:t>
            </a:r>
            <a:r>
              <a:rPr lang="en-US" sz="28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et </a:t>
            </a:r>
            <a:r>
              <a:rPr lang="en-US" sz="2800" dirty="0" smtClean="0">
                <a:latin typeface="Malgun Gothic" panose="020B0503020000020004" pitchFamily="34" charset="-127"/>
                <a:ea typeface="Malgun Gothic" panose="020B0503020000020004" pitchFamily="34" charset="-127"/>
              </a:rPr>
              <a:t>al., 2015)</a:t>
            </a:r>
            <a:endParaRPr lang="en-GB" sz="2800" dirty="0"/>
          </a:p>
        </p:txBody>
      </p:sp>
      <p:sp>
        <p:nvSpPr>
          <p:cNvPr id="44" name="CuadroTexto 43"/>
          <p:cNvSpPr txBox="1"/>
          <p:nvPr/>
        </p:nvSpPr>
        <p:spPr>
          <a:xfrm flipH="1">
            <a:off x="19396488" y="13800739"/>
            <a:ext cx="786539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AOIs</a:t>
            </a:r>
            <a:r>
              <a:rPr lang="en-US" sz="48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: eyes, mouth, body</a:t>
            </a:r>
          </a:p>
          <a:p>
            <a:endParaRPr lang="en-GB" sz="4800" dirty="0"/>
          </a:p>
        </p:txBody>
      </p:sp>
    </p:spTree>
    <p:extLst>
      <p:ext uri="{BB962C8B-B14F-4D97-AF65-F5344CB8AC3E}">
        <p14:creationId xmlns:p14="http://schemas.microsoft.com/office/powerpoint/2010/main" val="2241206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1875</TotalTime>
  <Words>366</Words>
  <Application>Microsoft Office PowerPoint</Application>
  <PresentationFormat>Personalizado</PresentationFormat>
  <Paragraphs>55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8" baseType="lpstr">
      <vt:lpstr>Malgun Gothic</vt:lpstr>
      <vt:lpstr>Arial</vt:lpstr>
      <vt:lpstr>Calibri</vt:lpstr>
      <vt:lpstr>Calibri Light</vt:lpstr>
      <vt:lpstr>Cambria Math</vt:lpstr>
      <vt:lpstr>Consolas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kwnstadina zaxarakh</dc:creator>
  <cp:lastModifiedBy>GONZALO GARCÍA DE CASTRO GARCÍA</cp:lastModifiedBy>
  <cp:revision>34</cp:revision>
  <dcterms:created xsi:type="dcterms:W3CDTF">2022-05-16T15:32:41Z</dcterms:created>
  <dcterms:modified xsi:type="dcterms:W3CDTF">2022-06-02T09:38:28Z</dcterms:modified>
</cp:coreProperties>
</file>