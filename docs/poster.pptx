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5999738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FFFF"/>
    <a:srgbClr val="FB0D0D"/>
    <a:srgbClr val="FF09DC"/>
    <a:srgbClr val="09FF26"/>
    <a:srgbClr val="0086A8"/>
    <a:srgbClr val="D04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71" autoAdjust="0"/>
    <p:restoredTop sz="94660"/>
  </p:normalViewPr>
  <p:slideViewPr>
    <p:cSldViewPr snapToGrid="0">
      <p:cViewPr>
        <p:scale>
          <a:sx n="33" d="100"/>
          <a:sy n="33" d="100"/>
        </p:scale>
        <p:origin x="1602" y="-3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81" y="7070108"/>
            <a:ext cx="30599777" cy="15040222"/>
          </a:xfrm>
        </p:spPr>
        <p:txBody>
          <a:bodyPr anchor="b"/>
          <a:lstStyle>
            <a:lvl1pPr algn="ctr">
              <a:defRPr sz="23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22690338"/>
            <a:ext cx="26999804" cy="10430151"/>
          </a:xfrm>
        </p:spPr>
        <p:txBody>
          <a:bodyPr/>
          <a:lstStyle>
            <a:lvl1pPr marL="0" indent="0" algn="ctr">
              <a:buNone/>
              <a:defRPr sz="9449"/>
            </a:lvl1pPr>
            <a:lvl2pPr marL="1799996" indent="0" algn="ctr">
              <a:buNone/>
              <a:defRPr sz="7874"/>
            </a:lvl2pPr>
            <a:lvl3pPr marL="3599993" indent="0" algn="ctr">
              <a:buNone/>
              <a:defRPr sz="7087"/>
            </a:lvl3pPr>
            <a:lvl4pPr marL="5399989" indent="0" algn="ctr">
              <a:buNone/>
              <a:defRPr sz="6299"/>
            </a:lvl4pPr>
            <a:lvl5pPr marL="7199986" indent="0" algn="ctr">
              <a:buNone/>
              <a:defRPr sz="6299"/>
            </a:lvl5pPr>
            <a:lvl6pPr marL="8999982" indent="0" algn="ctr">
              <a:buNone/>
              <a:defRPr sz="6299"/>
            </a:lvl6pPr>
            <a:lvl7pPr marL="10799978" indent="0" algn="ctr">
              <a:buNone/>
              <a:defRPr sz="6299"/>
            </a:lvl7pPr>
            <a:lvl8pPr marL="12599975" indent="0" algn="ctr">
              <a:buNone/>
              <a:defRPr sz="6299"/>
            </a:lvl8pPr>
            <a:lvl9pPr marL="14399971" indent="0" algn="ctr">
              <a:buNone/>
              <a:defRPr sz="629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DBAC-090F-45B3-A413-FE62EA8F1959}" type="datetimeFigureOut">
              <a:rPr lang="en-GB" smtClean="0"/>
              <a:t>26/05/2022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984C7-4E66-435C-BFF1-7944E3DE87B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5842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DBAC-090F-45B3-A413-FE62EA8F1959}" type="datetimeFigureOut">
              <a:rPr lang="en-GB" smtClean="0"/>
              <a:t>26/05/2022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984C7-4E66-435C-BFF1-7944E3DE87B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717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4" y="10770172"/>
            <a:ext cx="31049774" cy="17970262"/>
          </a:xfrm>
        </p:spPr>
        <p:txBody>
          <a:bodyPr anchor="b"/>
          <a:lstStyle>
            <a:lvl1pPr>
              <a:defRPr sz="23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4" y="28910440"/>
            <a:ext cx="31049774" cy="9450136"/>
          </a:xfrm>
        </p:spPr>
        <p:txBody>
          <a:bodyPr/>
          <a:lstStyle>
            <a:lvl1pPr marL="0" indent="0">
              <a:buNone/>
              <a:defRPr sz="9449">
                <a:solidFill>
                  <a:schemeClr val="tx1"/>
                </a:solidFill>
              </a:defRPr>
            </a:lvl1pPr>
            <a:lvl2pPr marL="1799996" indent="0">
              <a:buNone/>
              <a:defRPr sz="7874">
                <a:solidFill>
                  <a:schemeClr val="tx1">
                    <a:tint val="75000"/>
                  </a:schemeClr>
                </a:solidFill>
              </a:defRPr>
            </a:lvl2pPr>
            <a:lvl3pPr marL="3599993" indent="0">
              <a:buNone/>
              <a:defRPr sz="7087">
                <a:solidFill>
                  <a:schemeClr val="tx1">
                    <a:tint val="75000"/>
                  </a:schemeClr>
                </a:solidFill>
              </a:defRPr>
            </a:lvl3pPr>
            <a:lvl4pPr marL="5399989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4pPr>
            <a:lvl5pPr marL="7199986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5pPr>
            <a:lvl6pPr marL="8999982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6pPr>
            <a:lvl7pPr marL="10799978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7pPr>
            <a:lvl8pPr marL="12599975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8pPr>
            <a:lvl9pPr marL="14399971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DBAC-090F-45B3-A413-FE62EA8F1959}" type="datetimeFigureOut">
              <a:rPr lang="en-GB" smtClean="0"/>
              <a:t>26/05/2022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984C7-4E66-435C-BFF1-7944E3DE87B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5250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11500170"/>
            <a:ext cx="15299889" cy="27410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11500170"/>
            <a:ext cx="15299889" cy="27410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DBAC-090F-45B3-A413-FE62EA8F1959}" type="datetimeFigureOut">
              <a:rPr lang="en-GB" smtClean="0"/>
              <a:t>26/05/2022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984C7-4E66-435C-BFF1-7944E3DE87B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6218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00044"/>
            <a:ext cx="31049774" cy="8350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5" y="10590160"/>
            <a:ext cx="15229574" cy="5190073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5" y="15780233"/>
            <a:ext cx="15229574" cy="232103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9" y="10590160"/>
            <a:ext cx="15304578" cy="5190073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9" y="15780233"/>
            <a:ext cx="15304578" cy="232103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DBAC-090F-45B3-A413-FE62EA8F1959}" type="datetimeFigureOut">
              <a:rPr lang="en-GB" smtClean="0"/>
              <a:t>26/05/2022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984C7-4E66-435C-BFF1-7944E3DE87B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4436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DBAC-090F-45B3-A413-FE62EA8F1959}" type="datetimeFigureOut">
              <a:rPr lang="en-GB" smtClean="0"/>
              <a:t>26/05/2022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984C7-4E66-435C-BFF1-7944E3DE87B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300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DBAC-090F-45B3-A413-FE62EA8F1959}" type="datetimeFigureOut">
              <a:rPr lang="en-GB" smtClean="0"/>
              <a:t>26/05/2022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984C7-4E66-435C-BFF1-7944E3DE87B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3358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880042"/>
            <a:ext cx="11610853" cy="1008014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6220102"/>
            <a:ext cx="18224867" cy="30700453"/>
          </a:xfrm>
        </p:spPr>
        <p:txBody>
          <a:bodyPr/>
          <a:lstStyle>
            <a:lvl1pPr>
              <a:defRPr sz="12598"/>
            </a:lvl1pPr>
            <a:lvl2pPr>
              <a:defRPr sz="11024"/>
            </a:lvl2pPr>
            <a:lvl3pPr>
              <a:defRPr sz="9449"/>
            </a:lvl3pPr>
            <a:lvl4pPr>
              <a:defRPr sz="7874"/>
            </a:lvl4pPr>
            <a:lvl5pPr>
              <a:defRPr sz="7874"/>
            </a:lvl5pPr>
            <a:lvl6pPr>
              <a:defRPr sz="7874"/>
            </a:lvl6pPr>
            <a:lvl7pPr>
              <a:defRPr sz="7874"/>
            </a:lvl7pPr>
            <a:lvl8pPr>
              <a:defRPr sz="7874"/>
            </a:lvl8pPr>
            <a:lvl9pPr>
              <a:defRPr sz="787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2960191"/>
            <a:ext cx="11610853" cy="24010358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DBAC-090F-45B3-A413-FE62EA8F1959}" type="datetimeFigureOut">
              <a:rPr lang="en-GB" smtClean="0"/>
              <a:t>26/05/2022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984C7-4E66-435C-BFF1-7944E3DE87B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9231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880042"/>
            <a:ext cx="11610853" cy="1008014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6220102"/>
            <a:ext cx="18224867" cy="30700453"/>
          </a:xfrm>
        </p:spPr>
        <p:txBody>
          <a:bodyPr anchor="t"/>
          <a:lstStyle>
            <a:lvl1pPr marL="0" indent="0">
              <a:buNone/>
              <a:defRPr sz="12598"/>
            </a:lvl1pPr>
            <a:lvl2pPr marL="1799996" indent="0">
              <a:buNone/>
              <a:defRPr sz="11024"/>
            </a:lvl2pPr>
            <a:lvl3pPr marL="3599993" indent="0">
              <a:buNone/>
              <a:defRPr sz="9449"/>
            </a:lvl3pPr>
            <a:lvl4pPr marL="5399989" indent="0">
              <a:buNone/>
              <a:defRPr sz="7874"/>
            </a:lvl4pPr>
            <a:lvl5pPr marL="7199986" indent="0">
              <a:buNone/>
              <a:defRPr sz="7874"/>
            </a:lvl5pPr>
            <a:lvl6pPr marL="8999982" indent="0">
              <a:buNone/>
              <a:defRPr sz="7874"/>
            </a:lvl6pPr>
            <a:lvl7pPr marL="10799978" indent="0">
              <a:buNone/>
              <a:defRPr sz="7874"/>
            </a:lvl7pPr>
            <a:lvl8pPr marL="12599975" indent="0">
              <a:buNone/>
              <a:defRPr sz="7874"/>
            </a:lvl8pPr>
            <a:lvl9pPr marL="14399971" indent="0">
              <a:buNone/>
              <a:defRPr sz="787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2960191"/>
            <a:ext cx="11610853" cy="24010358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DBAC-090F-45B3-A413-FE62EA8F1959}" type="datetimeFigureOut">
              <a:rPr lang="en-GB" smtClean="0"/>
              <a:t>26/05/2022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984C7-4E66-435C-BFF1-7944E3DE87B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8136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DBAC-090F-45B3-A413-FE62EA8F1959}" type="datetimeFigureOut">
              <a:rPr lang="en-GB" smtClean="0"/>
              <a:t>26/05/2022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984C7-4E66-435C-BFF1-7944E3DE87B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5112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4" y="2300034"/>
            <a:ext cx="7762444" cy="366105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4" y="2300034"/>
            <a:ext cx="22837334" cy="366105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DBAC-090F-45B3-A413-FE62EA8F1959}" type="datetimeFigureOut">
              <a:rPr lang="en-GB" smtClean="0"/>
              <a:t>26/05/2022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984C7-4E66-435C-BFF1-7944E3DE87B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1506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2300044"/>
            <a:ext cx="31049774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11500170"/>
            <a:ext cx="31049774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40040601"/>
            <a:ext cx="8099941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8DBAC-090F-45B3-A413-FE62EA8F1959}" type="datetimeFigureOut">
              <a:rPr lang="en-GB" smtClean="0"/>
              <a:t>26/05/2022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40040601"/>
            <a:ext cx="12149912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40040601"/>
            <a:ext cx="8099941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5984C7-4E66-435C-BFF1-7944E3DE87B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4985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599993" rtl="0" eaLnBrk="1" latinLnBrk="0" hangingPunct="1">
        <a:lnSpc>
          <a:spcPct val="90000"/>
        </a:lnSpc>
        <a:spcBef>
          <a:spcPct val="0"/>
        </a:spcBef>
        <a:buNone/>
        <a:defRPr sz="173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9998" indent="-899998" algn="l" defTabSz="3599993" rtl="0" eaLnBrk="1" latinLnBrk="0" hangingPunct="1">
        <a:lnSpc>
          <a:spcPct val="90000"/>
        </a:lnSpc>
        <a:spcBef>
          <a:spcPts val="3937"/>
        </a:spcBef>
        <a:buFont typeface="Arial" panose="020B0604020202020204" pitchFamily="34" charset="0"/>
        <a:buChar char="•"/>
        <a:defRPr sz="11024" kern="1200">
          <a:solidFill>
            <a:schemeClr val="tx1"/>
          </a:solidFill>
          <a:latin typeface="+mn-lt"/>
          <a:ea typeface="+mn-ea"/>
          <a:cs typeface="+mn-cs"/>
        </a:defRPr>
      </a:lvl1pPr>
      <a:lvl2pPr marL="2699995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9449" kern="1200">
          <a:solidFill>
            <a:schemeClr val="tx1"/>
          </a:solidFill>
          <a:latin typeface="+mn-lt"/>
          <a:ea typeface="+mn-ea"/>
          <a:cs typeface="+mn-cs"/>
        </a:defRPr>
      </a:lvl2pPr>
      <a:lvl3pPr marL="4499991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874" kern="1200">
          <a:solidFill>
            <a:schemeClr val="tx1"/>
          </a:solidFill>
          <a:latin typeface="+mn-lt"/>
          <a:ea typeface="+mn-ea"/>
          <a:cs typeface="+mn-cs"/>
        </a:defRPr>
      </a:lvl3pPr>
      <a:lvl4pPr marL="629998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8099984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9899980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169997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3499973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5299969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1pPr>
      <a:lvl2pPr marL="179999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2pPr>
      <a:lvl3pPr marL="3599993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3pPr>
      <a:lvl4pPr marL="5399989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719998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8999982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0799978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2599975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4399971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emf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hyperlink" Target="https://doi.org/10.1073/pnas.1114783109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CA30C98-9CC5-648B-D8C4-F565F2962839}"/>
              </a:ext>
            </a:extLst>
          </p:cNvPr>
          <p:cNvSpPr/>
          <p:nvPr/>
        </p:nvSpPr>
        <p:spPr>
          <a:xfrm>
            <a:off x="-2" y="-2584"/>
            <a:ext cx="29221976" cy="4597855"/>
          </a:xfrm>
          <a:prstGeom prst="rect">
            <a:avLst/>
          </a:prstGeom>
          <a:solidFill>
            <a:srgbClr val="008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GB" sz="72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D047F1-CA6C-C3D7-8021-3746CA2B441C}"/>
              </a:ext>
            </a:extLst>
          </p:cNvPr>
          <p:cNvSpPr txBox="1"/>
          <p:nvPr/>
        </p:nvSpPr>
        <p:spPr>
          <a:xfrm>
            <a:off x="519125" y="37409230"/>
            <a:ext cx="8969891" cy="3303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References</a:t>
            </a:r>
            <a:endParaRPr lang="en-US" sz="16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spcBef>
                <a:spcPts val="1200"/>
              </a:spcBef>
            </a:pPr>
            <a:r>
              <a:rPr lang="en-GB" sz="1600" dirty="0" smtClean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[1] </a:t>
            </a:r>
            <a:r>
              <a:rPr lang="en-GB" sz="1600" dirty="0" err="1" smtClean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Lewkowicz</a:t>
            </a:r>
            <a:r>
              <a:rPr lang="en-GB" sz="16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, D. J., &amp; Hansen-</a:t>
            </a:r>
            <a:r>
              <a:rPr lang="en-GB" sz="1600" dirty="0" err="1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Tift</a:t>
            </a:r>
            <a:r>
              <a:rPr lang="en-GB" sz="16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, A. M. (2012). Infants deploy selective attention to the mouth of a talking face when learning speech. </a:t>
            </a:r>
            <a:r>
              <a:rPr lang="en-GB" sz="1600" i="1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Proceedings of the National Academy of Sciences</a:t>
            </a:r>
            <a:r>
              <a:rPr lang="en-GB" sz="16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lang="en-GB" sz="1600" i="1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109</a:t>
            </a:r>
            <a:r>
              <a:rPr lang="en-GB" sz="16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(5), 1431–1436. </a:t>
            </a:r>
            <a:r>
              <a:rPr lang="en-GB" sz="16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  <a:hlinkClick r:id="rId2"/>
              </a:rPr>
              <a:t>https://doi.org/10.1073/pnas.1114783109</a:t>
            </a:r>
            <a:endParaRPr lang="en-GB" sz="1600" dirty="0">
              <a:effectLst/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spcBef>
                <a:spcPts val="1200"/>
              </a:spcBef>
            </a:pPr>
            <a:r>
              <a:rPr lang="en-GB" sz="1600" dirty="0" smtClean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[2] </a:t>
            </a:r>
            <a:r>
              <a:rPr lang="en-GB" sz="1600" dirty="0" err="1" smtClean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Ayneto</a:t>
            </a:r>
            <a:r>
              <a:rPr lang="en-GB" sz="16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, A., &amp; Sebastian‐</a:t>
            </a:r>
            <a:r>
              <a:rPr lang="en-GB" sz="1600" dirty="0" err="1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Galles</a:t>
            </a:r>
            <a:r>
              <a:rPr lang="en-GB" sz="16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, N. (2017). The influence of bilingualism on the preference for the mouth region of dynamic faces. </a:t>
            </a:r>
            <a:r>
              <a:rPr lang="en-GB" sz="1600" i="1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Developmental Science</a:t>
            </a:r>
            <a:r>
              <a:rPr lang="en-GB" sz="16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. https://doi.org/10.1111/desc.12446</a:t>
            </a:r>
          </a:p>
          <a:p>
            <a:pPr>
              <a:spcBef>
                <a:spcPts val="1200"/>
              </a:spcBef>
            </a:pPr>
            <a:r>
              <a:rPr lang="en-GB" sz="1600" dirty="0" smtClean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[3] Pons</a:t>
            </a:r>
            <a:r>
              <a:rPr lang="en-GB" sz="16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, F., Bosch, L., &amp; Lewkowicz, D. J. (2015). Bilingualism Modulates Infants’ Selective Attention to the Mouth of a Talking Face. </a:t>
            </a:r>
            <a:r>
              <a:rPr lang="en-GB" sz="1600" i="1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Psychological Science</a:t>
            </a:r>
            <a:r>
              <a:rPr lang="en-GB" sz="16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. https://</a:t>
            </a:r>
            <a:r>
              <a:rPr lang="en-GB" sz="1600" dirty="0" smtClean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doi.org/10.1177/0956797614568320</a:t>
            </a:r>
            <a:endParaRPr lang="en-US" sz="16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endParaRPr lang="en-GB" sz="1600" baseline="30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FA2B04-4BC8-4AE2-2047-15573B0F7F8F}"/>
              </a:ext>
            </a:extLst>
          </p:cNvPr>
          <p:cNvSpPr txBox="1"/>
          <p:nvPr/>
        </p:nvSpPr>
        <p:spPr>
          <a:xfrm>
            <a:off x="547369" y="17779856"/>
            <a:ext cx="63977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Methods</a:t>
            </a:r>
            <a:endParaRPr lang="en-US" sz="72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3C165F-BC6C-AD52-5347-85ADC2CD2446}"/>
              </a:ext>
            </a:extLst>
          </p:cNvPr>
          <p:cNvSpPr txBox="1"/>
          <p:nvPr/>
        </p:nvSpPr>
        <p:spPr>
          <a:xfrm>
            <a:off x="845979" y="26879668"/>
            <a:ext cx="169901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Participants</a:t>
            </a:r>
            <a:endParaRPr lang="en-US" sz="72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graphicFrame>
        <p:nvGraphicFramePr>
          <p:cNvPr id="18" name="Table 18">
            <a:extLst>
              <a:ext uri="{FF2B5EF4-FFF2-40B4-BE49-F238E27FC236}">
                <a16:creationId xmlns:a16="http://schemas.microsoft.com/office/drawing/2014/main" id="{E363ACCB-B9F9-5EE4-4863-496BDD105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321322"/>
              </p:ext>
            </p:extLst>
          </p:nvPr>
        </p:nvGraphicFramePr>
        <p:xfrm>
          <a:off x="862080" y="28766597"/>
          <a:ext cx="11979793" cy="3517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36596">
                  <a:extLst>
                    <a:ext uri="{9D8B030D-6E8A-4147-A177-3AD203B41FA5}">
                      <a16:colId xmlns:a16="http://schemas.microsoft.com/office/drawing/2014/main" val="3937675309"/>
                    </a:ext>
                  </a:extLst>
                </a:gridCol>
                <a:gridCol w="4456587">
                  <a:extLst>
                    <a:ext uri="{9D8B030D-6E8A-4147-A177-3AD203B41FA5}">
                      <a16:colId xmlns:a16="http://schemas.microsoft.com/office/drawing/2014/main" val="2483126608"/>
                    </a:ext>
                  </a:extLst>
                </a:gridCol>
                <a:gridCol w="4986610">
                  <a:extLst>
                    <a:ext uri="{9D8B030D-6E8A-4147-A177-3AD203B41FA5}">
                      <a16:colId xmlns:a16="http://schemas.microsoft.com/office/drawing/2014/main" val="3397760137"/>
                    </a:ext>
                  </a:extLst>
                </a:gridCol>
              </a:tblGrid>
              <a:tr h="1356722">
                <a:tc>
                  <a:txBody>
                    <a:bodyPr/>
                    <a:lstStyle/>
                    <a:p>
                      <a:pPr algn="ctr"/>
                      <a:r>
                        <a:rPr lang="ca-ES" sz="4800" b="1" dirty="0" err="1" smtClean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Age</a:t>
                      </a:r>
                      <a:endParaRPr lang="en-GB" sz="4800" b="1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b="1" noProof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Monolinguals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b="1" noProof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Bilinguals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3765484"/>
                  </a:ext>
                </a:extLst>
              </a:tr>
              <a:tr h="485754">
                <a:tc>
                  <a:txBody>
                    <a:bodyPr/>
                    <a:lstStyle/>
                    <a:p>
                      <a:pPr algn="ctr"/>
                      <a:r>
                        <a:rPr lang="es-ES" sz="4800" dirty="0" smtClean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8 </a:t>
                      </a:r>
                      <a:r>
                        <a:rPr lang="es-ES" sz="4800" dirty="0" err="1" smtClean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mo</a:t>
                      </a:r>
                      <a:endParaRPr lang="en-GB" sz="480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13</a:t>
                      </a:r>
                      <a:endParaRPr lang="en-GB" sz="480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14</a:t>
                      </a:r>
                      <a:endParaRPr lang="en-GB" sz="480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12286923"/>
                  </a:ext>
                </a:extLst>
              </a:tr>
              <a:tr h="1337588">
                <a:tc>
                  <a:txBody>
                    <a:bodyPr/>
                    <a:lstStyle/>
                    <a:p>
                      <a:pPr algn="ctr"/>
                      <a:r>
                        <a:rPr lang="es-ES" sz="4800" dirty="0" smtClean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12 </a:t>
                      </a:r>
                      <a:r>
                        <a:rPr lang="es-ES" sz="4800" dirty="0" err="1" smtClean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mo</a:t>
                      </a:r>
                      <a:endParaRPr lang="en-GB" sz="480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17</a:t>
                      </a:r>
                      <a:endParaRPr lang="en-GB" sz="480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11</a:t>
                      </a:r>
                      <a:endParaRPr lang="en-GB" sz="480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9787943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8E38F6D-0E3C-1CD5-9859-643DF0E7E0D9}"/>
              </a:ext>
            </a:extLst>
          </p:cNvPr>
          <p:cNvSpPr txBox="1"/>
          <p:nvPr/>
        </p:nvSpPr>
        <p:spPr>
          <a:xfrm>
            <a:off x="18806633" y="13848109"/>
            <a:ext cx="143944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Results</a:t>
            </a:r>
            <a:endParaRPr lang="en-US" sz="72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2" name="AutoShape 2">
            <a:extLst>
              <a:ext uri="{FF2B5EF4-FFF2-40B4-BE49-F238E27FC236}">
                <a16:creationId xmlns:a16="http://schemas.microsoft.com/office/drawing/2014/main" id="{AD1BB6F3-5C12-E39F-BDEA-58BAE3B99C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992024" y="23306924"/>
            <a:ext cx="8139983" cy="8139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30" name="Picture 29" descr="A screenshot of a cell phone&#10;&#10;Description automatically generated">
            <a:extLst>
              <a:ext uri="{FF2B5EF4-FFF2-40B4-BE49-F238E27FC236}">
                <a16:creationId xmlns:a16="http://schemas.microsoft.com/office/drawing/2014/main" id="{2EC44DD1-4498-AFB4-BC08-FFB08F294C9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10" b="18797"/>
          <a:stretch/>
        </p:blipFill>
        <p:spPr>
          <a:xfrm>
            <a:off x="7353763" y="40997264"/>
            <a:ext cx="2455660" cy="1630257"/>
          </a:xfrm>
          <a:prstGeom prst="rect">
            <a:avLst/>
          </a:prstGeom>
        </p:spPr>
      </p:pic>
      <p:pic>
        <p:nvPicPr>
          <p:cNvPr id="32" name="Picture 31" descr="A picture containing drawing&#10;&#10;Description automatically generated">
            <a:extLst>
              <a:ext uri="{FF2B5EF4-FFF2-40B4-BE49-F238E27FC236}">
                <a16:creationId xmlns:a16="http://schemas.microsoft.com/office/drawing/2014/main" id="{D75FC170-0A05-5328-D234-5007532FAC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221" y="40970550"/>
            <a:ext cx="6658730" cy="1630257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696612" y="1869854"/>
            <a:ext cx="29039501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</a:pPr>
            <a:r>
              <a:rPr lang="es-ES" sz="6000" dirty="0" smtClean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Konstantina </a:t>
            </a:r>
            <a:r>
              <a:rPr lang="es-ES" sz="60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Zacharaki</a:t>
            </a:r>
            <a:r>
              <a:rPr lang="es-ES" sz="6000" baseline="300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1 </a:t>
            </a:r>
            <a:r>
              <a:rPr lang="es-ES" sz="60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, Gonzalo Garcia-Castro</a:t>
            </a:r>
            <a:r>
              <a:rPr lang="es-ES" sz="6000" baseline="300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1</a:t>
            </a:r>
            <a:r>
              <a:rPr lang="es-ES" sz="60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&amp; Nuria </a:t>
            </a:r>
            <a:r>
              <a:rPr lang="es-ES" sz="6000" dirty="0" smtClean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Sebastian-Galles</a:t>
            </a:r>
            <a:r>
              <a:rPr lang="es-ES" sz="6000" baseline="30000" dirty="0" smtClean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1</a:t>
            </a:r>
            <a:endParaRPr lang="es-ES" sz="6000" baseline="300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spcBef>
                <a:spcPts val="2400"/>
              </a:spcBef>
            </a:pPr>
            <a:r>
              <a:rPr lang="es-ES" sz="4800" i="1" baseline="300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1 </a:t>
            </a:r>
            <a:r>
              <a:rPr lang="es-ES" sz="4800" i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Center </a:t>
            </a:r>
            <a:r>
              <a:rPr lang="es-ES" sz="4800" i="1" dirty="0" err="1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for</a:t>
            </a:r>
            <a:r>
              <a:rPr lang="es-ES" sz="4800" i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s-ES" sz="4800" i="1" dirty="0" err="1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Brain</a:t>
            </a:r>
            <a:r>
              <a:rPr lang="es-ES" sz="4800" i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and </a:t>
            </a:r>
            <a:r>
              <a:rPr lang="es-ES" sz="4800" i="1" dirty="0" err="1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Cognition</a:t>
            </a:r>
            <a:r>
              <a:rPr lang="es-ES" sz="4800" i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lang="es-ES" sz="4800" i="1" dirty="0" err="1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Universitat</a:t>
            </a:r>
            <a:r>
              <a:rPr lang="es-ES" sz="4800" i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s-ES" sz="4800" i="1" dirty="0" err="1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Pompeu</a:t>
            </a:r>
            <a:r>
              <a:rPr lang="es-ES" sz="4800" i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s-ES" sz="4800" i="1" dirty="0" err="1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Fabra</a:t>
            </a:r>
            <a:endParaRPr lang="es-ES" sz="4800" i="1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561220" y="282596"/>
            <a:ext cx="3192415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8800" b="1" dirty="0" err="1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Selective</a:t>
            </a:r>
            <a:r>
              <a:rPr lang="es-ES" sz="8800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s-ES" sz="8800" b="1" dirty="0" err="1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attention</a:t>
            </a:r>
            <a:r>
              <a:rPr lang="es-ES" sz="8800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to </a:t>
            </a:r>
            <a:r>
              <a:rPr lang="es-ES" sz="8800" b="1" dirty="0" err="1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the</a:t>
            </a:r>
            <a:r>
              <a:rPr lang="es-ES" sz="8800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s-ES" sz="8800" b="1" dirty="0" err="1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mouth</a:t>
            </a:r>
            <a:r>
              <a:rPr lang="es-ES" sz="8800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of </a:t>
            </a:r>
            <a:r>
              <a:rPr lang="es-ES" sz="8800" b="1" dirty="0" err="1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signing</a:t>
            </a:r>
            <a:r>
              <a:rPr lang="es-ES" sz="8800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faces</a:t>
            </a:r>
            <a:endParaRPr lang="es-ES" sz="8800" b="1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grpSp>
        <p:nvGrpSpPr>
          <p:cNvPr id="40" name="Grupo 39"/>
          <p:cNvGrpSpPr/>
          <p:nvPr/>
        </p:nvGrpSpPr>
        <p:grpSpPr>
          <a:xfrm>
            <a:off x="-2" y="13348873"/>
            <a:ext cx="18096741" cy="3745838"/>
            <a:chOff x="0" y="14742117"/>
            <a:chExt cx="18096741" cy="3745838"/>
          </a:xfrm>
        </p:grpSpPr>
        <p:sp>
          <p:nvSpPr>
            <p:cNvPr id="24" name="Rectángulo 23"/>
            <p:cNvSpPr/>
            <p:nvPr/>
          </p:nvSpPr>
          <p:spPr>
            <a:xfrm>
              <a:off x="0" y="14742117"/>
              <a:ext cx="18096741" cy="3745838"/>
            </a:xfrm>
            <a:prstGeom prst="rect">
              <a:avLst/>
            </a:prstGeom>
            <a:solidFill>
              <a:srgbClr val="D04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Rectángulo 24"/>
            <p:cNvSpPr/>
            <p:nvPr/>
          </p:nvSpPr>
          <p:spPr>
            <a:xfrm>
              <a:off x="917498" y="14979002"/>
              <a:ext cx="16261744" cy="31700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2400"/>
                </a:spcBef>
              </a:pPr>
              <a:r>
                <a:rPr lang="en-US" sz="6000" b="1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Research question</a:t>
              </a:r>
            </a:p>
            <a:p>
              <a:pPr>
                <a:spcBef>
                  <a:spcPts val="2400"/>
                </a:spcBef>
              </a:pPr>
              <a:r>
                <a:rPr lang="en-US" sz="60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Will 8- and 12-month-old </a:t>
              </a:r>
              <a:r>
                <a:rPr lang="en-US" sz="6000" dirty="0" smtClean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MON </a:t>
              </a:r>
              <a:r>
                <a:rPr lang="en-US" sz="60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and </a:t>
              </a:r>
              <a:r>
                <a:rPr lang="en-US" sz="6000" dirty="0" smtClean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BIL </a:t>
              </a:r>
              <a:r>
                <a:rPr lang="en-US" sz="60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infants look similarly to a person signing?</a:t>
              </a:r>
              <a:endParaRPr lang="en-US" sz="60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sp>
        <p:nvSpPr>
          <p:cNvPr id="26" name="Rectángulo 25"/>
          <p:cNvSpPr/>
          <p:nvPr/>
        </p:nvSpPr>
        <p:spPr>
          <a:xfrm>
            <a:off x="-1" y="6748715"/>
            <a:ext cx="18096741" cy="76504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9" name="Grupo 38"/>
          <p:cNvGrpSpPr/>
          <p:nvPr/>
        </p:nvGrpSpPr>
        <p:grpSpPr>
          <a:xfrm>
            <a:off x="681302" y="5007276"/>
            <a:ext cx="17016210" cy="7613115"/>
            <a:chOff x="1080530" y="5493412"/>
            <a:chExt cx="17016210" cy="7613115"/>
          </a:xfrm>
        </p:grpSpPr>
        <p:sp>
          <p:nvSpPr>
            <p:cNvPr id="17" name="Rectángulo 16"/>
            <p:cNvSpPr/>
            <p:nvPr/>
          </p:nvSpPr>
          <p:spPr>
            <a:xfrm>
              <a:off x="1080530" y="5493412"/>
              <a:ext cx="5649624" cy="1200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72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Introduction</a:t>
              </a:r>
              <a:endParaRPr lang="en-US" sz="8000" b="1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7" name="Rectángulo 26"/>
            <p:cNvSpPr/>
            <p:nvPr/>
          </p:nvSpPr>
          <p:spPr>
            <a:xfrm>
              <a:off x="1080530" y="6858663"/>
              <a:ext cx="17016210" cy="62478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2400"/>
                </a:spcBef>
              </a:pPr>
              <a:r>
                <a:rPr lang="en-US" sz="6000" dirty="0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Infants show a U-shaped </a:t>
              </a:r>
              <a:r>
                <a:rPr lang="en-US" sz="60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scanning pattern of talking </a:t>
              </a:r>
              <a:r>
                <a:rPr lang="en-US" sz="6000" dirty="0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faces: </a:t>
              </a:r>
              <a:r>
                <a:rPr lang="en-US" sz="6000" b="1" dirty="0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preference to the mouth increases, </a:t>
              </a:r>
              <a:r>
                <a:rPr lang="en-US" sz="6000" dirty="0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then</a:t>
              </a:r>
              <a:r>
                <a:rPr lang="en-US" sz="6000" b="1" dirty="0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 decreases with age</a:t>
              </a:r>
              <a:r>
                <a:rPr lang="en-US" sz="6000" b="1" baseline="30000" dirty="0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1</a:t>
              </a:r>
              <a:endParaRPr lang="en-US" sz="6000" b="1" baseline="300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>
                <a:spcBef>
                  <a:spcPts val="2400"/>
                </a:spcBef>
              </a:pPr>
              <a:r>
                <a:rPr lang="en-US" sz="6000" b="1" dirty="0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Bilinguals (BIL) </a:t>
              </a:r>
              <a:r>
                <a:rPr lang="en-US" sz="6000" dirty="0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look longer to </a:t>
              </a:r>
              <a:r>
                <a:rPr lang="en-US" sz="60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the </a:t>
              </a:r>
              <a:r>
                <a:rPr lang="en-US" sz="6000" dirty="0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mouth than </a:t>
              </a:r>
              <a:r>
                <a:rPr lang="en-US" sz="6000" b="1" dirty="0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monolinguals (MON) </a:t>
              </a:r>
              <a:r>
                <a:rPr lang="en-US" sz="6000" baseline="30000" dirty="0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2</a:t>
              </a:r>
              <a:r>
                <a:rPr lang="en-US" sz="6000" baseline="300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, 3</a:t>
              </a:r>
            </a:p>
            <a:p>
              <a:pPr>
                <a:spcBef>
                  <a:spcPts val="2400"/>
                </a:spcBef>
              </a:pPr>
              <a:r>
                <a:rPr lang="en-US" sz="60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Sign language is predominantly </a:t>
              </a:r>
              <a:r>
                <a:rPr lang="en-US" sz="60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visual</a:t>
              </a:r>
              <a:endParaRPr lang="en-US" sz="6000" b="1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41" name="Grupo 40"/>
          <p:cNvGrpSpPr/>
          <p:nvPr/>
        </p:nvGrpSpPr>
        <p:grpSpPr>
          <a:xfrm>
            <a:off x="-118994" y="19325942"/>
            <a:ext cx="18096740" cy="7424800"/>
            <a:chOff x="0" y="21557362"/>
            <a:chExt cx="18096740" cy="7424800"/>
          </a:xfrm>
        </p:grpSpPr>
        <p:sp>
          <p:nvSpPr>
            <p:cNvPr id="28" name="Rectángulo 27"/>
            <p:cNvSpPr/>
            <p:nvPr/>
          </p:nvSpPr>
          <p:spPr>
            <a:xfrm>
              <a:off x="0" y="21557362"/>
              <a:ext cx="18096740" cy="74248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0E4712F-C178-7692-CBF8-91E770F591EA}"/>
                </a:ext>
              </a:extLst>
            </p:cNvPr>
            <p:cNvGrpSpPr/>
            <p:nvPr/>
          </p:nvGrpSpPr>
          <p:grpSpPr>
            <a:xfrm>
              <a:off x="1526320" y="23117615"/>
              <a:ext cx="15084700" cy="5416594"/>
              <a:chOff x="1594521" y="29255201"/>
              <a:chExt cx="14483012" cy="5416594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682FC37F-F4D9-A3DF-05AD-3F69343FCEBB}"/>
                  </a:ext>
                </a:extLst>
              </p:cNvPr>
              <p:cNvGrpSpPr/>
              <p:nvPr/>
            </p:nvGrpSpPr>
            <p:grpSpPr>
              <a:xfrm>
                <a:off x="1594521" y="29255201"/>
                <a:ext cx="14483012" cy="5416594"/>
                <a:chOff x="1594521" y="29255201"/>
                <a:chExt cx="14483012" cy="5416594"/>
              </a:xfrm>
            </p:grpSpPr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BDF164B2-F759-423B-F347-B6CFCB8F70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94521" y="29291778"/>
                  <a:ext cx="7070879" cy="5380017"/>
                </a:xfrm>
                <a:prstGeom prst="rect">
                  <a:avLst/>
                </a:prstGeom>
              </p:spPr>
            </p:pic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F012F60D-B928-426E-4F20-6C50947577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063974" y="29344655"/>
                  <a:ext cx="7013559" cy="5327140"/>
                </a:xfrm>
                <a:prstGeom prst="rect">
                  <a:avLst/>
                </a:prstGeom>
              </p:spPr>
            </p:pic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7569B0E-B276-4FE3-F1B5-07D570A4B6FE}"/>
                    </a:ext>
                  </a:extLst>
                </p:cNvPr>
                <p:cNvSpPr txBox="1"/>
                <p:nvPr/>
              </p:nvSpPr>
              <p:spPr>
                <a:xfrm>
                  <a:off x="9141934" y="29255201"/>
                  <a:ext cx="5751109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4800" b="1" dirty="0">
                      <a:solidFill>
                        <a:schemeClr val="bg1"/>
                      </a:solidFill>
                      <a:latin typeface="Malgun Gothic" panose="020B0503020000020004" pitchFamily="34" charset="-127"/>
                      <a:ea typeface="Malgun Gothic" panose="020B0503020000020004" pitchFamily="34" charset="-127"/>
                    </a:rPr>
                    <a:t>Japanese SL</a:t>
                  </a:r>
                  <a:endParaRPr lang="en-GB" sz="4800" b="1" dirty="0">
                    <a:solidFill>
                      <a:schemeClr val="bg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EBE1F74-55E4-B85F-C4A3-A9F618664152}"/>
                  </a:ext>
                </a:extLst>
              </p:cNvPr>
              <p:cNvSpPr txBox="1"/>
              <p:nvPr/>
            </p:nvSpPr>
            <p:spPr>
              <a:xfrm>
                <a:off x="1617286" y="29312601"/>
                <a:ext cx="444567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800" b="1" dirty="0">
                    <a:solidFill>
                      <a:schemeClr val="bg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British SL</a:t>
                </a:r>
                <a:endParaRPr lang="en-GB" sz="4800" b="1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  <p:sp>
          <p:nvSpPr>
            <p:cNvPr id="29" name="Rectángulo 28"/>
            <p:cNvSpPr/>
            <p:nvPr/>
          </p:nvSpPr>
          <p:spPr>
            <a:xfrm>
              <a:off x="816546" y="21794391"/>
              <a:ext cx="16455737" cy="11227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66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Stimuli</a:t>
              </a:r>
              <a:endParaRPr lang="en-US" sz="6600" b="1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42" name="Grupo 41"/>
          <p:cNvGrpSpPr/>
          <p:nvPr/>
        </p:nvGrpSpPr>
        <p:grpSpPr>
          <a:xfrm>
            <a:off x="866147" y="32592121"/>
            <a:ext cx="17301315" cy="3717414"/>
            <a:chOff x="866147" y="35253295"/>
            <a:chExt cx="17301315" cy="371741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1462464-0D64-C888-5E13-D00B658812E1}"/>
                </a:ext>
              </a:extLst>
            </p:cNvPr>
            <p:cNvSpPr txBox="1"/>
            <p:nvPr/>
          </p:nvSpPr>
          <p:spPr>
            <a:xfrm>
              <a:off x="885845" y="36662385"/>
              <a:ext cx="14070992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Watch </a:t>
              </a:r>
              <a:r>
                <a:rPr lang="en-US" sz="48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short videos on a 24</a:t>
              </a:r>
              <a:r>
                <a:rPr lang="en-US" sz="4800" baseline="300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’’ </a:t>
              </a:r>
              <a:r>
                <a:rPr lang="en-US" sz="48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screen in blocks of 5 in each language (</a:t>
              </a:r>
              <a:r>
                <a:rPr lang="en-US" sz="4800" dirty="0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BSL/JSL</a:t>
              </a:r>
              <a:r>
                <a:rPr lang="en-US" sz="4800" dirty="0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) (max. 11 min)</a:t>
              </a:r>
            </a:p>
            <a:p>
              <a:r>
                <a:rPr lang="en-US" sz="4800" dirty="0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Gaze registered using eye-tracker</a:t>
              </a:r>
              <a:endParaRPr lang="en-US" sz="48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3" name="Rectángulo 32"/>
            <p:cNvSpPr/>
            <p:nvPr/>
          </p:nvSpPr>
          <p:spPr>
            <a:xfrm>
              <a:off x="866147" y="35253295"/>
              <a:ext cx="17301315" cy="11079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66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Procedure</a:t>
              </a:r>
              <a:endParaRPr lang="en-GB" sz="7200" b="1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sp>
        <p:nvSpPr>
          <p:cNvPr id="34" name="Rectángulo 33"/>
          <p:cNvSpPr/>
          <p:nvPr/>
        </p:nvSpPr>
        <p:spPr>
          <a:xfrm>
            <a:off x="14138542" y="37179847"/>
            <a:ext cx="541205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72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Conclusions</a:t>
            </a:r>
            <a:endParaRPr lang="en-US" sz="72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grpSp>
        <p:nvGrpSpPr>
          <p:cNvPr id="37" name="Grupo 36"/>
          <p:cNvGrpSpPr/>
          <p:nvPr/>
        </p:nvGrpSpPr>
        <p:grpSpPr>
          <a:xfrm>
            <a:off x="14138542" y="38486448"/>
            <a:ext cx="21861197" cy="4741000"/>
            <a:chOff x="20182459" y="35547698"/>
            <a:chExt cx="16376508" cy="4393858"/>
          </a:xfrm>
        </p:grpSpPr>
        <p:sp>
          <p:nvSpPr>
            <p:cNvPr id="35" name="Rectángulo 34"/>
            <p:cNvSpPr/>
            <p:nvPr/>
          </p:nvSpPr>
          <p:spPr>
            <a:xfrm>
              <a:off x="20182459" y="35547698"/>
              <a:ext cx="16376508" cy="4393858"/>
            </a:xfrm>
            <a:prstGeom prst="rect">
              <a:avLst/>
            </a:prstGeom>
            <a:solidFill>
              <a:srgbClr val="0086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ángulo 35"/>
            <p:cNvSpPr/>
            <p:nvPr/>
          </p:nvSpPr>
          <p:spPr>
            <a:xfrm>
              <a:off x="20424497" y="35744678"/>
              <a:ext cx="15725696" cy="29379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2400"/>
                </a:spcBef>
              </a:pPr>
              <a:r>
                <a:rPr lang="en-US" sz="6000" b="1" dirty="0" smtClean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Mouth preference in all groups</a:t>
              </a:r>
              <a:r>
                <a:rPr lang="en-US" sz="6000" dirty="0" smtClean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, which increases with </a:t>
              </a:r>
              <a:r>
                <a:rPr lang="en-US" sz="6000" b="1" dirty="0" smtClean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age</a:t>
              </a:r>
              <a:endParaRPr lang="en-US" sz="6000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>
                <a:spcBef>
                  <a:spcPts val="2400"/>
                </a:spcBef>
              </a:pPr>
              <a:r>
                <a:rPr lang="en-US" sz="6000" dirty="0" smtClean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No shift </a:t>
              </a:r>
              <a:r>
                <a:rPr lang="en-US" sz="60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back to </a:t>
              </a:r>
              <a:r>
                <a:rPr lang="en-US" sz="6000" dirty="0" smtClean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eye preference at </a:t>
              </a:r>
              <a:r>
                <a:rPr lang="en-US" sz="60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12 </a:t>
              </a:r>
              <a:r>
                <a:rPr lang="en-US" sz="6000" dirty="0" err="1" smtClean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mo</a:t>
              </a:r>
              <a:r>
                <a:rPr lang="en-US" sz="6000" dirty="0" smtClean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:</a:t>
              </a:r>
              <a:r>
                <a:rPr lang="en-US" sz="60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 </a:t>
              </a:r>
              <a:r>
                <a:rPr lang="en-US" sz="6000" dirty="0" smtClean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sign language perceived </a:t>
              </a:r>
              <a:r>
                <a:rPr lang="en-US" sz="60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as non-native </a:t>
              </a:r>
              <a:r>
                <a:rPr lang="en-US" sz="6000" dirty="0" smtClean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speech?</a:t>
              </a:r>
            </a:p>
          </p:txBody>
        </p:sp>
      </p:grpSp>
      <p:grpSp>
        <p:nvGrpSpPr>
          <p:cNvPr id="80" name="Grupo 79"/>
          <p:cNvGrpSpPr/>
          <p:nvPr/>
        </p:nvGrpSpPr>
        <p:grpSpPr>
          <a:xfrm>
            <a:off x="18852236" y="5086851"/>
            <a:ext cx="17313199" cy="8051745"/>
            <a:chOff x="914212" y="34936268"/>
            <a:chExt cx="17313199" cy="6157138"/>
          </a:xfrm>
        </p:grpSpPr>
        <p:sp>
          <p:nvSpPr>
            <p:cNvPr id="81" name="TextBox 18">
              <a:extLst>
                <a:ext uri="{FF2B5EF4-FFF2-40B4-BE49-F238E27FC236}">
                  <a16:creationId xmlns:a16="http://schemas.microsoft.com/office/drawing/2014/main" id="{C584555B-D6CE-3A24-19AD-66AB039C3860}"/>
                </a:ext>
              </a:extLst>
            </p:cNvPr>
            <p:cNvSpPr txBox="1"/>
            <p:nvPr/>
          </p:nvSpPr>
          <p:spPr>
            <a:xfrm>
              <a:off x="914212" y="34936268"/>
              <a:ext cx="1474838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200" b="1" dirty="0"/>
                <a:t>Data </a:t>
              </a:r>
              <a:r>
                <a:rPr lang="en-US" sz="7200" b="1" dirty="0" smtClean="0"/>
                <a:t>analysis</a:t>
              </a:r>
            </a:p>
          </p:txBody>
        </p:sp>
        <p:sp>
          <p:nvSpPr>
            <p:cNvPr id="82" name="CuadroTexto 81"/>
            <p:cNvSpPr txBox="1"/>
            <p:nvPr/>
          </p:nvSpPr>
          <p:spPr>
            <a:xfrm>
              <a:off x="914212" y="35797907"/>
              <a:ext cx="17313199" cy="5295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2400"/>
                </a:spcBef>
              </a:pPr>
              <a:r>
                <a:rPr lang="en-US" sz="5400" dirty="0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Generalized Bayesian multilevel model </a:t>
              </a:r>
              <a:r>
                <a:rPr lang="en-US" sz="54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in </a:t>
              </a:r>
              <a:r>
                <a:rPr lang="en-US" sz="5400" dirty="0" err="1">
                  <a:latin typeface="Consolas" panose="020B0609020204030204" pitchFamily="49" charset="0"/>
                  <a:ea typeface="Malgun Gothic" panose="020B0503020000020004" pitchFamily="34" charset="-127"/>
                </a:rPr>
                <a:t>brms</a:t>
              </a:r>
              <a:endParaRPr lang="en-US" sz="5400" dirty="0" smtClean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>
                <a:spcBef>
                  <a:spcPts val="2400"/>
                </a:spcBef>
              </a:pPr>
              <a:r>
                <a:rPr lang="en-US" sz="5400" dirty="0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Zero-inflated Beta link distribution</a:t>
              </a:r>
              <a:endParaRPr lang="ca-ES" sz="5400" dirty="0" smtClean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>
                <a:spcBef>
                  <a:spcPts val="2400"/>
                </a:spcBef>
              </a:pPr>
              <a:r>
                <a:rPr lang="ca-ES" sz="4400" b="1" dirty="0" err="1" smtClean="0">
                  <a:latin typeface="Consolas" panose="020B0609020204030204" pitchFamily="49" charset="0"/>
                  <a:ea typeface="Malgun Gothic" panose="020B0503020000020004" pitchFamily="34" charset="-127"/>
                </a:rPr>
                <a:t>ptlt</a:t>
              </a:r>
              <a:r>
                <a:rPr lang="ca-ES" sz="4400" b="1" dirty="0" smtClean="0">
                  <a:latin typeface="Consolas" panose="020B0609020204030204" pitchFamily="49" charset="0"/>
                  <a:ea typeface="Malgun Gothic" panose="020B0503020000020004" pitchFamily="34" charset="-127"/>
                </a:rPr>
                <a:t> </a:t>
              </a:r>
              <a:r>
                <a:rPr lang="ca-ES" sz="4400" b="1" dirty="0">
                  <a:latin typeface="Consolas" panose="020B0609020204030204" pitchFamily="49" charset="0"/>
                  <a:ea typeface="Malgun Gothic" panose="020B0503020000020004" pitchFamily="34" charset="-127"/>
                </a:rPr>
                <a:t>~ </a:t>
              </a:r>
              <a:r>
                <a:rPr lang="ca-ES" sz="4400" b="1" dirty="0" err="1" smtClean="0">
                  <a:latin typeface="Consolas" panose="020B0609020204030204" pitchFamily="49" charset="0"/>
                  <a:ea typeface="Malgun Gothic" panose="020B0503020000020004" pitchFamily="34" charset="-127"/>
                </a:rPr>
                <a:t>aoi</a:t>
              </a:r>
              <a:r>
                <a:rPr lang="ca-ES" sz="4400" b="1" dirty="0" smtClean="0">
                  <a:latin typeface="Consolas" panose="020B0609020204030204" pitchFamily="49" charset="0"/>
                  <a:ea typeface="Malgun Gothic" panose="020B0503020000020004" pitchFamily="34" charset="-127"/>
                </a:rPr>
                <a:t> * </a:t>
              </a:r>
              <a:r>
                <a:rPr lang="ca-ES" sz="4400" b="1" dirty="0" err="1" smtClean="0">
                  <a:latin typeface="Consolas" panose="020B0609020204030204" pitchFamily="49" charset="0"/>
                  <a:ea typeface="Malgun Gothic" panose="020B0503020000020004" pitchFamily="34" charset="-127"/>
                </a:rPr>
                <a:t>age_group</a:t>
              </a:r>
              <a:r>
                <a:rPr lang="ca-ES" sz="4400" b="1" dirty="0" smtClean="0">
                  <a:latin typeface="Consolas" panose="020B0609020204030204" pitchFamily="49" charset="0"/>
                  <a:ea typeface="Malgun Gothic" panose="020B0503020000020004" pitchFamily="34" charset="-127"/>
                </a:rPr>
                <a:t> * </a:t>
              </a:r>
              <a:r>
                <a:rPr lang="ca-ES" sz="4400" b="1" dirty="0" err="1" smtClean="0">
                  <a:latin typeface="Consolas" panose="020B0609020204030204" pitchFamily="49" charset="0"/>
                  <a:ea typeface="Malgun Gothic" panose="020B0503020000020004" pitchFamily="34" charset="-127"/>
                </a:rPr>
                <a:t>lang_profile</a:t>
              </a:r>
              <a:r>
                <a:rPr lang="ca-ES" sz="4400" b="1" dirty="0" smtClean="0">
                  <a:latin typeface="Consolas" panose="020B0609020204030204" pitchFamily="49" charset="0"/>
                  <a:ea typeface="Malgun Gothic" panose="020B0503020000020004" pitchFamily="34" charset="-127"/>
                </a:rPr>
                <a:t> </a:t>
              </a:r>
              <a:r>
                <a:rPr lang="ca-ES" sz="4400" b="1" dirty="0">
                  <a:latin typeface="Consolas" panose="020B0609020204030204" pitchFamily="49" charset="0"/>
                  <a:ea typeface="Malgun Gothic" panose="020B0503020000020004" pitchFamily="34" charset="-127"/>
                </a:rPr>
                <a:t>+ (1 + </a:t>
              </a:r>
              <a:r>
                <a:rPr lang="ca-ES" sz="4400" b="1" dirty="0" err="1">
                  <a:latin typeface="Consolas" panose="020B0609020204030204" pitchFamily="49" charset="0"/>
                  <a:ea typeface="Malgun Gothic" panose="020B0503020000020004" pitchFamily="34" charset="-127"/>
                </a:rPr>
                <a:t>aoi</a:t>
              </a:r>
              <a:r>
                <a:rPr lang="ca-ES" sz="4400" b="1" dirty="0">
                  <a:latin typeface="Consolas" panose="020B0609020204030204" pitchFamily="49" charset="0"/>
                  <a:ea typeface="Malgun Gothic" panose="020B0503020000020004" pitchFamily="34" charset="-127"/>
                </a:rPr>
                <a:t> | </a:t>
              </a:r>
              <a:r>
                <a:rPr lang="ca-ES" sz="4400" b="1" dirty="0" err="1">
                  <a:latin typeface="Consolas" panose="020B0609020204030204" pitchFamily="49" charset="0"/>
                  <a:ea typeface="Malgun Gothic" panose="020B0503020000020004" pitchFamily="34" charset="-127"/>
                </a:rPr>
                <a:t>id</a:t>
              </a:r>
              <a:r>
                <a:rPr lang="ca-ES" sz="4400" b="1" dirty="0" smtClean="0">
                  <a:latin typeface="Consolas" panose="020B0609020204030204" pitchFamily="49" charset="0"/>
                  <a:ea typeface="Malgun Gothic" panose="020B0503020000020004" pitchFamily="34" charset="-127"/>
                </a:rPr>
                <a:t>)</a:t>
              </a:r>
            </a:p>
            <a:p>
              <a:pPr>
                <a:spcBef>
                  <a:spcPts val="1200"/>
                </a:spcBef>
              </a:pPr>
              <a:endParaRPr lang="ca-ES" sz="3200" dirty="0" smtClean="0">
                <a:latin typeface="Consolas" panose="020B0609020204030204" pitchFamily="49" charset="0"/>
                <a:ea typeface="Malgun Gothic" panose="020B0503020000020004" pitchFamily="34" charset="-127"/>
              </a:endParaRPr>
            </a:p>
            <a:p>
              <a:pPr>
                <a:spcBef>
                  <a:spcPts val="1200"/>
                </a:spcBef>
              </a:pPr>
              <a:r>
                <a:rPr lang="ca-ES" sz="3200" dirty="0" err="1" smtClean="0">
                  <a:latin typeface="Consolas" panose="020B0609020204030204" pitchFamily="49" charset="0"/>
                  <a:ea typeface="Malgun Gothic" panose="020B0503020000020004" pitchFamily="34" charset="-127"/>
                </a:rPr>
                <a:t>ptlt</a:t>
              </a:r>
              <a:r>
                <a:rPr lang="ca-ES" sz="3200" dirty="0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: </a:t>
              </a:r>
              <a:r>
                <a:rPr lang="ca-ES" sz="3200" dirty="0" err="1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proportion</a:t>
              </a:r>
              <a:r>
                <a:rPr lang="ca-ES" sz="3200" dirty="0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 of total </a:t>
              </a:r>
              <a:r>
                <a:rPr lang="ca-ES" sz="3200" dirty="0" err="1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looking</a:t>
              </a:r>
              <a:r>
                <a:rPr lang="ca-ES" sz="3200" dirty="0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 </a:t>
              </a:r>
              <a:r>
                <a:rPr lang="ca-ES" sz="3200" dirty="0" err="1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time</a:t>
              </a:r>
              <a:endParaRPr lang="ca-ES" sz="3200" dirty="0" smtClean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>
                <a:spcBef>
                  <a:spcPts val="1200"/>
                </a:spcBef>
              </a:pPr>
              <a:r>
                <a:rPr lang="ca-ES" sz="3200" dirty="0" err="1">
                  <a:latin typeface="Consolas" panose="020B0609020204030204" pitchFamily="49" charset="0"/>
                  <a:ea typeface="Malgun Gothic" panose="020B0503020000020004" pitchFamily="34" charset="-127"/>
                </a:rPr>
                <a:t>a</a:t>
              </a:r>
              <a:r>
                <a:rPr lang="ca-ES" sz="3200" dirty="0" err="1" smtClean="0">
                  <a:latin typeface="Consolas" panose="020B0609020204030204" pitchFamily="49" charset="0"/>
                  <a:ea typeface="Malgun Gothic" panose="020B0503020000020004" pitchFamily="34" charset="-127"/>
                </a:rPr>
                <a:t>oi</a:t>
              </a:r>
              <a:r>
                <a:rPr lang="ca-ES" sz="3200" dirty="0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: </a:t>
              </a:r>
              <a:r>
                <a:rPr lang="ca-ES" sz="3200" dirty="0" err="1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Area</a:t>
              </a:r>
              <a:r>
                <a:rPr lang="ca-ES" sz="3200" dirty="0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 of </a:t>
              </a:r>
              <a:r>
                <a:rPr lang="ca-ES" sz="3200" dirty="0" err="1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interest</a:t>
              </a:r>
              <a:r>
                <a:rPr lang="ca-ES" sz="3200" dirty="0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 (</a:t>
              </a:r>
              <a:r>
                <a:rPr lang="ca-ES" sz="3200" dirty="0" err="1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eyes</a:t>
              </a:r>
              <a:r>
                <a:rPr lang="ca-ES" sz="3200" dirty="0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 vs. </a:t>
              </a:r>
              <a:r>
                <a:rPr lang="ca-ES" sz="3200" dirty="0" err="1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mouth</a:t>
              </a:r>
              <a:r>
                <a:rPr lang="ca-ES" sz="3200" dirty="0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)</a:t>
              </a:r>
            </a:p>
            <a:p>
              <a:pPr>
                <a:spcBef>
                  <a:spcPts val="1200"/>
                </a:spcBef>
              </a:pPr>
              <a:r>
                <a:rPr lang="ca-ES" sz="3200" dirty="0" err="1" smtClean="0">
                  <a:latin typeface="Consolas" panose="020B0609020204030204" pitchFamily="49" charset="0"/>
                  <a:ea typeface="Malgun Gothic" panose="020B0503020000020004" pitchFamily="34" charset="-127"/>
                </a:rPr>
                <a:t>age_group</a:t>
              </a:r>
              <a:r>
                <a:rPr lang="ca-ES" sz="3200" dirty="0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: </a:t>
              </a:r>
              <a:r>
                <a:rPr lang="ca-ES" sz="32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8 </a:t>
              </a:r>
              <a:r>
                <a:rPr lang="ca-ES" sz="3200" dirty="0" err="1">
                  <a:latin typeface="Malgun Gothic" panose="020B0503020000020004" pitchFamily="34" charset="-127"/>
                  <a:ea typeface="Malgun Gothic" panose="020B0503020000020004" pitchFamily="34" charset="-127"/>
                </a:rPr>
                <a:t>months</a:t>
              </a:r>
              <a:r>
                <a:rPr lang="ca-ES" sz="320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 vs. 12 </a:t>
              </a:r>
              <a:r>
                <a:rPr lang="ca-ES" sz="3200" dirty="0" err="1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months</a:t>
              </a:r>
              <a:endParaRPr lang="ca-ES" sz="32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>
                <a:spcBef>
                  <a:spcPts val="1200"/>
                </a:spcBef>
              </a:pPr>
              <a:r>
                <a:rPr lang="ca-ES" sz="3200" dirty="0" err="1" smtClean="0">
                  <a:latin typeface="Consolas" panose="020B0609020204030204" pitchFamily="49" charset="0"/>
                  <a:ea typeface="Malgun Gothic" panose="020B0503020000020004" pitchFamily="34" charset="-127"/>
                </a:rPr>
                <a:t>lang_profile</a:t>
              </a:r>
              <a:r>
                <a:rPr lang="ca-ES" sz="3200" dirty="0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: </a:t>
              </a:r>
              <a:r>
                <a:rPr lang="ca-ES" sz="3200" dirty="0" err="1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Monolinguals</a:t>
              </a:r>
              <a:r>
                <a:rPr lang="ca-ES" sz="3200" dirty="0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 vs. </a:t>
              </a:r>
              <a:r>
                <a:rPr lang="ca-ES" sz="3200" dirty="0" err="1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Bilinguals</a:t>
              </a:r>
              <a:endParaRPr lang="ca-ES" sz="3200" dirty="0" smtClean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>
                <a:spcBef>
                  <a:spcPts val="1200"/>
                </a:spcBef>
              </a:pPr>
              <a:r>
                <a:rPr lang="ca-ES" sz="3200" dirty="0" err="1">
                  <a:latin typeface="Consolas" panose="020B0609020204030204" pitchFamily="49" charset="0"/>
                  <a:ea typeface="Malgun Gothic" panose="020B0503020000020004" pitchFamily="34" charset="-127"/>
                </a:rPr>
                <a:t>i</a:t>
              </a:r>
              <a:r>
                <a:rPr lang="ca-ES" sz="3200" dirty="0" err="1" smtClean="0">
                  <a:latin typeface="Consolas" panose="020B0609020204030204" pitchFamily="49" charset="0"/>
                  <a:ea typeface="Malgun Gothic" panose="020B0503020000020004" pitchFamily="34" charset="-127"/>
                </a:rPr>
                <a:t>d</a:t>
              </a:r>
              <a:r>
                <a:rPr lang="ca-ES" sz="3200" dirty="0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: participant </a:t>
              </a:r>
              <a:r>
                <a:rPr lang="ca-ES" sz="3200" dirty="0" err="1" smtClean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index</a:t>
              </a:r>
              <a:endParaRPr lang="en-GB" sz="32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pic>
        <p:nvPicPr>
          <p:cNvPr id="1041" name="Imagen 1040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1696" y="40031393"/>
            <a:ext cx="2711225" cy="2711225"/>
          </a:xfrm>
          <a:prstGeom prst="rect">
            <a:avLst/>
          </a:prstGeom>
        </p:spPr>
      </p:pic>
      <p:pic>
        <p:nvPicPr>
          <p:cNvPr id="1042" name="Imagen 1041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030" y="39461310"/>
            <a:ext cx="1106610" cy="1106610"/>
          </a:xfrm>
          <a:prstGeom prst="rect">
            <a:avLst/>
          </a:prstGeom>
        </p:spPr>
      </p:pic>
      <p:sp>
        <p:nvSpPr>
          <p:cNvPr id="1055" name="CuadroTexto 1054"/>
          <p:cNvSpPr txBox="1"/>
          <p:nvPr/>
        </p:nvSpPr>
        <p:spPr>
          <a:xfrm>
            <a:off x="9998710" y="38880155"/>
            <a:ext cx="36301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ca-ES" sz="3200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Poster</a:t>
            </a:r>
            <a:r>
              <a:rPr lang="ca-ES" sz="32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, materials </a:t>
            </a:r>
            <a:r>
              <a:rPr lang="ca-ES" sz="3200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and</a:t>
            </a:r>
            <a:r>
              <a:rPr lang="ca-ES" sz="32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ca-ES" sz="3200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code</a:t>
            </a:r>
            <a:r>
              <a:rPr lang="ca-ES" sz="32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ca-ES" sz="3200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here</a:t>
            </a:r>
            <a:r>
              <a:rPr lang="ca-ES" sz="32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!</a:t>
            </a:r>
            <a:endParaRPr lang="en-GB" sz="32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75" name="Imagen 74"/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4118" y="1602769"/>
            <a:ext cx="2779282" cy="962268"/>
          </a:xfrm>
          <a:prstGeom prst="rect">
            <a:avLst/>
          </a:prstGeom>
        </p:spPr>
      </p:pic>
      <p:pic>
        <p:nvPicPr>
          <p:cNvPr id="76" name="Imagen 7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4118" y="0"/>
            <a:ext cx="6495620" cy="1443471"/>
          </a:xfrm>
          <a:prstGeom prst="rect">
            <a:avLst/>
          </a:prstGeom>
        </p:spPr>
      </p:pic>
      <p:sp>
        <p:nvSpPr>
          <p:cNvPr id="86" name="Rectángulo 85"/>
          <p:cNvSpPr/>
          <p:nvPr/>
        </p:nvSpPr>
        <p:spPr>
          <a:xfrm>
            <a:off x="12247269" y="22620032"/>
            <a:ext cx="1100431" cy="353631"/>
          </a:xfrm>
          <a:prstGeom prst="rect">
            <a:avLst/>
          </a:prstGeom>
          <a:solidFill>
            <a:srgbClr val="09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Rectángulo 119"/>
          <p:cNvSpPr/>
          <p:nvPr/>
        </p:nvSpPr>
        <p:spPr>
          <a:xfrm>
            <a:off x="12247268" y="22172079"/>
            <a:ext cx="1100431" cy="353631"/>
          </a:xfrm>
          <a:prstGeom prst="rect">
            <a:avLst/>
          </a:prstGeom>
          <a:solidFill>
            <a:srgbClr val="09FF2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Rectángulo 120"/>
          <p:cNvSpPr/>
          <p:nvPr/>
        </p:nvSpPr>
        <p:spPr>
          <a:xfrm>
            <a:off x="11214101" y="23192187"/>
            <a:ext cx="3247540" cy="3110602"/>
          </a:xfrm>
          <a:prstGeom prst="rect">
            <a:avLst/>
          </a:prstGeom>
          <a:solidFill>
            <a:srgbClr val="FB0D0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2" name="Rectángulo 121"/>
          <p:cNvSpPr/>
          <p:nvPr/>
        </p:nvSpPr>
        <p:spPr>
          <a:xfrm>
            <a:off x="3343245" y="23192187"/>
            <a:ext cx="3601825" cy="3110602"/>
          </a:xfrm>
          <a:prstGeom prst="rect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Rectángulo 122"/>
          <p:cNvSpPr/>
          <p:nvPr/>
        </p:nvSpPr>
        <p:spPr>
          <a:xfrm>
            <a:off x="4625625" y="22662619"/>
            <a:ext cx="1100431" cy="353631"/>
          </a:xfrm>
          <a:prstGeom prst="rect">
            <a:avLst/>
          </a:prstGeom>
          <a:solidFill>
            <a:srgbClr val="09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Rectángulo 123"/>
          <p:cNvSpPr/>
          <p:nvPr/>
        </p:nvSpPr>
        <p:spPr>
          <a:xfrm>
            <a:off x="4642698" y="22184709"/>
            <a:ext cx="1100431" cy="353631"/>
          </a:xfrm>
          <a:prstGeom prst="rect">
            <a:avLst/>
          </a:prstGeom>
          <a:solidFill>
            <a:srgbClr val="09FF2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8" name="Imagen 87"/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2255" y="3517471"/>
            <a:ext cx="659867" cy="659867"/>
          </a:xfrm>
          <a:prstGeom prst="rect">
            <a:avLst/>
          </a:prstGeom>
        </p:spPr>
      </p:pic>
      <p:sp>
        <p:nvSpPr>
          <p:cNvPr id="89" name="CuadroTexto 88"/>
          <p:cNvSpPr txBox="1"/>
          <p:nvPr/>
        </p:nvSpPr>
        <p:spPr>
          <a:xfrm>
            <a:off x="30472540" y="3470680"/>
            <a:ext cx="1695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0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@</a:t>
            </a:r>
            <a:r>
              <a:rPr lang="ca-ES" sz="2000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KZacharaki</a:t>
            </a:r>
            <a:endParaRPr lang="en-GB" sz="2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28" name="CuadroTexto 127"/>
          <p:cNvSpPr txBox="1"/>
          <p:nvPr/>
        </p:nvSpPr>
        <p:spPr>
          <a:xfrm>
            <a:off x="30472540" y="3867629"/>
            <a:ext cx="17423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0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@gongcastro</a:t>
            </a:r>
            <a:endParaRPr lang="en-GB" sz="2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90" name="Imagen 89"/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8007" y="2721367"/>
            <a:ext cx="648364" cy="648364"/>
          </a:xfrm>
          <a:prstGeom prst="rect">
            <a:avLst/>
          </a:prstGeom>
        </p:spPr>
      </p:pic>
      <p:sp>
        <p:nvSpPr>
          <p:cNvPr id="130" name="CuadroTexto 129"/>
          <p:cNvSpPr txBox="1"/>
          <p:nvPr/>
        </p:nvSpPr>
        <p:spPr>
          <a:xfrm>
            <a:off x="30581363" y="2808219"/>
            <a:ext cx="37651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0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konstantina.zacharaki@upf.edu</a:t>
            </a:r>
            <a:endParaRPr lang="en-GB" sz="2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91" name="Imagen 90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98902" y="26630982"/>
            <a:ext cx="16637297" cy="10495729"/>
          </a:xfrm>
          <a:prstGeom prst="rect">
            <a:avLst/>
          </a:prstGeom>
        </p:spPr>
      </p:pic>
      <p:pic>
        <p:nvPicPr>
          <p:cNvPr id="92" name="Imagen 91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6248" y="15461056"/>
            <a:ext cx="15855291" cy="10002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206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1651</TotalTime>
  <Words>364</Words>
  <Application>Microsoft Office PowerPoint</Application>
  <PresentationFormat>Personalizado</PresentationFormat>
  <Paragraphs>48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Malgun Gothic</vt:lpstr>
      <vt:lpstr>Arial</vt:lpstr>
      <vt:lpstr>Calibri</vt:lpstr>
      <vt:lpstr>Calibri Light</vt:lpstr>
      <vt:lpstr>Consolas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kwnstadina zaxarakh</dc:creator>
  <cp:lastModifiedBy>GONZALO GARCÍA DE CASTRO GARCÍA</cp:lastModifiedBy>
  <cp:revision>23</cp:revision>
  <dcterms:created xsi:type="dcterms:W3CDTF">2022-05-16T15:32:41Z</dcterms:created>
  <dcterms:modified xsi:type="dcterms:W3CDTF">2022-05-27T12:51:33Z</dcterms:modified>
</cp:coreProperties>
</file>